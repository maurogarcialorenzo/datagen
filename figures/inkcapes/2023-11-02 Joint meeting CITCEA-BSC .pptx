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Roboto"/>
      <p:regular r:id="rId26"/>
      <p:bold r:id="rId27"/>
      <p:italic r:id="rId28"/>
      <p:boldItalic r:id="rId29"/>
    </p:embeddedFont>
    <p:embeddedFont>
      <p:font typeface="Century Schoolbook"/>
      <p:regular r:id="rId30"/>
      <p:bold r:id="rId31"/>
      <p:italic r:id="rId32"/>
      <p:boldItalic r:id="rId33"/>
    </p:embeddedFont>
    <p:embeddedFont>
      <p:font typeface="Merriweather"/>
      <p:regular r:id="rId34"/>
      <p:bold r:id="rId35"/>
      <p:italic r:id="rId36"/>
      <p:boldItalic r:id="rId37"/>
    </p:embeddedFont>
    <p:embeddedFont>
      <p:font typeface="Open Sans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italic.fntdata"/><Relationship Id="rId20" Type="http://schemas.openxmlformats.org/officeDocument/2006/relationships/slide" Target="slides/slide15.xml"/><Relationship Id="rId41" Type="http://schemas.openxmlformats.org/officeDocument/2006/relationships/font" Target="fonts/OpenSans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regular.fntdata"/><Relationship Id="rId25" Type="http://schemas.openxmlformats.org/officeDocument/2006/relationships/slide" Target="slides/slide20.xml"/><Relationship Id="rId28" Type="http://schemas.openxmlformats.org/officeDocument/2006/relationships/font" Target="fonts/Roboto-italic.fntdata"/><Relationship Id="rId27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CenturySchoolbook-bold.fntdata"/><Relationship Id="rId30" Type="http://schemas.openxmlformats.org/officeDocument/2006/relationships/font" Target="fonts/CenturySchoolbook-regular.fntdata"/><Relationship Id="rId11" Type="http://schemas.openxmlformats.org/officeDocument/2006/relationships/slide" Target="slides/slide6.xml"/><Relationship Id="rId33" Type="http://schemas.openxmlformats.org/officeDocument/2006/relationships/font" Target="fonts/CenturySchoolbook-boldItalic.fntdata"/><Relationship Id="rId10" Type="http://schemas.openxmlformats.org/officeDocument/2006/relationships/slide" Target="slides/slide5.xml"/><Relationship Id="rId32" Type="http://schemas.openxmlformats.org/officeDocument/2006/relationships/font" Target="fonts/CenturySchoolbook-italic.fntdata"/><Relationship Id="rId13" Type="http://schemas.openxmlformats.org/officeDocument/2006/relationships/slide" Target="slides/slide8.xml"/><Relationship Id="rId35" Type="http://schemas.openxmlformats.org/officeDocument/2006/relationships/font" Target="fonts/Merriweather-bold.fntdata"/><Relationship Id="rId12" Type="http://schemas.openxmlformats.org/officeDocument/2006/relationships/slide" Target="slides/slide7.xml"/><Relationship Id="rId34" Type="http://schemas.openxmlformats.org/officeDocument/2006/relationships/font" Target="fonts/Merriweather-regular.fntdata"/><Relationship Id="rId15" Type="http://schemas.openxmlformats.org/officeDocument/2006/relationships/slide" Target="slides/slide10.xml"/><Relationship Id="rId37" Type="http://schemas.openxmlformats.org/officeDocument/2006/relationships/font" Target="fonts/Merriweather-boldItalic.fntdata"/><Relationship Id="rId14" Type="http://schemas.openxmlformats.org/officeDocument/2006/relationships/slide" Target="slides/slide9.xml"/><Relationship Id="rId36" Type="http://schemas.openxmlformats.org/officeDocument/2006/relationships/font" Target="fonts/Merriweather-italic.fntdata"/><Relationship Id="rId17" Type="http://schemas.openxmlformats.org/officeDocument/2006/relationships/slide" Target="slides/slide12.xml"/><Relationship Id="rId39" Type="http://schemas.openxmlformats.org/officeDocument/2006/relationships/font" Target="fonts/OpenSans-bold.fntdata"/><Relationship Id="rId16" Type="http://schemas.openxmlformats.org/officeDocument/2006/relationships/slide" Target="slides/slide11.xml"/><Relationship Id="rId38" Type="http://schemas.openxmlformats.org/officeDocument/2006/relationships/font" Target="fonts/OpenSans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954681cb2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954681cb2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954681cb2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954681cb2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954681cb2a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954681cb2a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954681cb2a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954681cb2a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954681cb2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954681cb2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954681cb2a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954681cb2a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96356ae9ad_3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96356ae9ad_3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96356ae9ad_3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96356ae9ad_3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96356ae9ad_3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96356ae9ad_3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96356ae9ad_3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96356ae9ad_3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96356ae9ad_3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96356ae9ad_3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8e1b9f745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8e1b9f745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94e8bde4ce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94e8bde4ce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96356ae9ad_2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96356ae9ad_2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96356ae9ad_2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96356ae9ad_2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96356ae9ad_2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96356ae9ad_2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96356ae9ad_2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296356ae9ad_2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294e8bde4ce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294e8bde4ce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94e8bde4ce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294e8bde4ce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image" Target="../media/image14.png"/><Relationship Id="rId6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Joint meeting CITCEA-BSC</a:t>
            </a:r>
            <a:endParaRPr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 Nov 2023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311700" y="226600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Small-signal Stability Constrained Optimal Power Flow Tool</a:t>
            </a:r>
            <a:endParaRPr/>
          </a:p>
        </p:txBody>
      </p:sp>
      <p:pic>
        <p:nvPicPr>
          <p:cNvPr id="71" name="Google Shape;7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625" y="2571750"/>
            <a:ext cx="8118525" cy="2482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4"/>
          <p:cNvSpPr txBox="1"/>
          <p:nvPr/>
        </p:nvSpPr>
        <p:spPr>
          <a:xfrm>
            <a:off x="106675" y="1325475"/>
            <a:ext cx="8672700" cy="15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13E3E"/>
              </a:buClr>
              <a:buSzPts val="1100"/>
              <a:buFont typeface="Open Sans"/>
              <a:buChar char="●"/>
            </a:pPr>
            <a:r>
              <a:rPr lang="en" sz="1100">
                <a:solidFill>
                  <a:srgbClr val="413E3E"/>
                </a:solidFill>
                <a:latin typeface="Open Sans"/>
                <a:ea typeface="Open Sans"/>
                <a:cs typeface="Open Sans"/>
                <a:sym typeface="Open Sans"/>
              </a:rPr>
              <a:t>OPF with dynamic constraint, to suggest the system operator the generation </a:t>
            </a:r>
            <a:r>
              <a:rPr lang="en" sz="1100">
                <a:solidFill>
                  <a:srgbClr val="413E3E"/>
                </a:solidFill>
                <a:latin typeface="Open Sans"/>
                <a:ea typeface="Open Sans"/>
                <a:cs typeface="Open Sans"/>
                <a:sym typeface="Open Sans"/>
              </a:rPr>
              <a:t>dispatch</a:t>
            </a:r>
            <a:r>
              <a:rPr lang="en" sz="1100">
                <a:solidFill>
                  <a:srgbClr val="413E3E"/>
                </a:solidFill>
                <a:latin typeface="Open Sans"/>
                <a:ea typeface="Open Sans"/>
                <a:cs typeface="Open Sans"/>
                <a:sym typeface="Open Sans"/>
              </a:rPr>
              <a:t> and the converters controllers tuning which guarantee an optimal and stable operation.</a:t>
            </a:r>
            <a:endParaRPr sz="1100">
              <a:solidFill>
                <a:srgbClr val="413E3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13E3E"/>
              </a:buClr>
              <a:buSzPts val="1100"/>
              <a:buFont typeface="Open Sans"/>
              <a:buChar char="●"/>
            </a:pPr>
            <a:r>
              <a:rPr lang="en" sz="1100">
                <a:solidFill>
                  <a:srgbClr val="413E3E"/>
                </a:solidFill>
                <a:latin typeface="Open Sans"/>
                <a:ea typeface="Open Sans"/>
                <a:cs typeface="Open Sans"/>
                <a:sym typeface="Open Sans"/>
              </a:rPr>
              <a:t>The dynamic constraint is formulated as a data-driven surrogate model (through a regression) of conventional small-signal analysis.</a:t>
            </a:r>
            <a:endParaRPr sz="1100">
              <a:solidFill>
                <a:srgbClr val="413E3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13E3E"/>
              </a:buClr>
              <a:buSzPts val="1100"/>
              <a:buFont typeface="Open Sans"/>
              <a:buChar char="●"/>
            </a:pPr>
            <a:r>
              <a:rPr lang="en" sz="1100">
                <a:solidFill>
                  <a:srgbClr val="413E3E"/>
                </a:solidFill>
                <a:latin typeface="Open Sans"/>
                <a:ea typeface="Open Sans"/>
                <a:cs typeface="Open Sans"/>
                <a:sym typeface="Open Sans"/>
              </a:rPr>
              <a:t>A training data set is required, collecting the small-signal stability response of the system for </a:t>
            </a:r>
            <a:r>
              <a:rPr lang="en" sz="1100">
                <a:solidFill>
                  <a:srgbClr val="413E3E"/>
                </a:solidFill>
                <a:latin typeface="Open Sans"/>
                <a:ea typeface="Open Sans"/>
                <a:cs typeface="Open Sans"/>
                <a:sym typeface="Open Sans"/>
              </a:rPr>
              <a:t>several</a:t>
            </a:r>
            <a:r>
              <a:rPr lang="en" sz="1100">
                <a:solidFill>
                  <a:srgbClr val="413E3E"/>
                </a:solidFill>
                <a:latin typeface="Open Sans"/>
                <a:ea typeface="Open Sans"/>
                <a:cs typeface="Open Sans"/>
                <a:sym typeface="Open Sans"/>
              </a:rPr>
              <a:t> operating point and converters controllers tuning</a:t>
            </a:r>
            <a:endParaRPr sz="1100">
              <a:solidFill>
                <a:srgbClr val="413E3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Generation - Small-signal Analysis </a:t>
            </a:r>
            <a:endParaRPr/>
          </a:p>
        </p:txBody>
      </p:sp>
      <p:pic>
        <p:nvPicPr>
          <p:cNvPr id="78" name="Google Shape;7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450" y="1295325"/>
            <a:ext cx="7658342" cy="371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Generation - Data to sample</a:t>
            </a:r>
            <a:endParaRPr/>
          </a:p>
        </p:txBody>
      </p:sp>
      <p:pic>
        <p:nvPicPr>
          <p:cNvPr id="84" name="Google Shape;8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25" y="1357025"/>
            <a:ext cx="3135836" cy="3714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0336" y="1277025"/>
            <a:ext cx="3511980" cy="3714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/>
          <p:nvPr/>
        </p:nvSpPr>
        <p:spPr>
          <a:xfrm>
            <a:off x="4078400" y="1399025"/>
            <a:ext cx="1662300" cy="1908900"/>
          </a:xfrm>
          <a:prstGeom prst="roundRect">
            <a:avLst>
              <a:gd fmla="val 955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" name="Google Shape;91;p1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Generation </a:t>
            </a:r>
            <a:r>
              <a:rPr lang="en"/>
              <a:t>- Data to sample</a:t>
            </a:r>
            <a:endParaRPr/>
          </a:p>
        </p:txBody>
      </p:sp>
      <p:pic>
        <p:nvPicPr>
          <p:cNvPr id="92" name="Google Shape;9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2761" y="1334175"/>
            <a:ext cx="3121976" cy="371407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 txBox="1"/>
          <p:nvPr/>
        </p:nvSpPr>
        <p:spPr>
          <a:xfrm>
            <a:off x="4078400" y="1399025"/>
            <a:ext cx="1886100" cy="20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entury Schoolbook"/>
                <a:ea typeface="Century Schoolbook"/>
                <a:cs typeface="Century Schoolbook"/>
                <a:sym typeface="Century Schoolbook"/>
              </a:rPr>
              <a:t>SG: </a:t>
            </a: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Synchronous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       Generator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entury Schoolbook"/>
                <a:ea typeface="Century Schoolbook"/>
                <a:cs typeface="Century Schoolbook"/>
                <a:sym typeface="Century Schoolbook"/>
              </a:rPr>
              <a:t>CIG: </a:t>
            </a: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Converter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         Interfaced 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         Generator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entury Schoolbook"/>
                <a:ea typeface="Century Schoolbook"/>
                <a:cs typeface="Century Schoolbook"/>
                <a:sym typeface="Century Schoolbook"/>
              </a:rPr>
              <a:t>GFOL: </a:t>
            </a: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Grid-following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             control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entury Schoolbook"/>
                <a:ea typeface="Century Schoolbook"/>
                <a:cs typeface="Century Schoolbook"/>
                <a:sym typeface="Century Schoolbook"/>
              </a:rPr>
              <a:t>GFOR: </a:t>
            </a: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Grid-forming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             </a:t>
            </a: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control</a:t>
            </a: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4078500" y="3517975"/>
            <a:ext cx="1662300" cy="1359300"/>
          </a:xfrm>
          <a:prstGeom prst="roundRect">
            <a:avLst>
              <a:gd fmla="val 955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4163450" y="3460325"/>
            <a:ext cx="1716000" cy="16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13E3E"/>
                </a:solidFill>
                <a:latin typeface="Open Sans"/>
                <a:ea typeface="Open Sans"/>
                <a:cs typeface="Open Sans"/>
                <a:sym typeface="Open Sans"/>
              </a:rPr>
              <a:t>System elements:</a:t>
            </a:r>
            <a:endParaRPr sz="1200">
              <a:solidFill>
                <a:srgbClr val="413E3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- </a:t>
            </a:r>
            <a:r>
              <a:rPr lang="en" sz="1200">
                <a:solidFill>
                  <a:srgbClr val="413E3E"/>
                </a:solidFill>
                <a:latin typeface="Open Sans"/>
                <a:ea typeface="Open Sans"/>
                <a:cs typeface="Open Sans"/>
                <a:sym typeface="Open Sans"/>
              </a:rPr>
              <a:t>28 Generation buses</a:t>
            </a:r>
            <a:endParaRPr sz="1200">
              <a:solidFill>
                <a:srgbClr val="413E3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-</a:t>
            </a:r>
            <a:r>
              <a:rPr lang="en" sz="1200">
                <a:solidFill>
                  <a:srgbClr val="413E3E"/>
                </a:solidFill>
                <a:latin typeface="Open Sans"/>
                <a:ea typeface="Open Sans"/>
                <a:cs typeface="Open Sans"/>
                <a:sym typeface="Open Sans"/>
              </a:rPr>
              <a:t>91 Loads buses</a:t>
            </a:r>
            <a:endParaRPr sz="1200">
              <a:solidFill>
                <a:srgbClr val="413E3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-</a:t>
            </a:r>
            <a:r>
              <a:rPr lang="en" sz="1200">
                <a:solidFill>
                  <a:srgbClr val="413E3E"/>
                </a:solidFill>
                <a:latin typeface="Open Sans"/>
                <a:ea typeface="Open Sans"/>
                <a:cs typeface="Open Sans"/>
                <a:sym typeface="Open Sans"/>
              </a:rPr>
              <a:t>172 Lines</a:t>
            </a:r>
            <a:endParaRPr sz="1200">
              <a:solidFill>
                <a:srgbClr val="413E3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-</a:t>
            </a:r>
            <a:r>
              <a:rPr lang="en" sz="1200">
                <a:solidFill>
                  <a:srgbClr val="413E3E"/>
                </a:solidFill>
                <a:latin typeface="Open Sans"/>
                <a:ea typeface="Open Sans"/>
                <a:cs typeface="Open Sans"/>
                <a:sym typeface="Open Sans"/>
              </a:rPr>
              <a:t>9 Transformers</a:t>
            </a:r>
            <a:endParaRPr sz="1200">
              <a:solidFill>
                <a:srgbClr val="413E3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96" name="Google Shape;9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334175"/>
            <a:ext cx="3579507" cy="371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Generation - </a:t>
            </a:r>
            <a:r>
              <a:rPr lang="en"/>
              <a:t>Data to sample</a:t>
            </a:r>
            <a:r>
              <a:rPr lang="en"/>
              <a:t> </a:t>
            </a:r>
            <a:endParaRPr/>
          </a:p>
        </p:txBody>
      </p:sp>
      <p:pic>
        <p:nvPicPr>
          <p:cNvPr id="102" name="Google Shape;10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825" y="1334175"/>
            <a:ext cx="5474195" cy="3714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Generation - </a:t>
            </a:r>
            <a:r>
              <a:rPr lang="en"/>
              <a:t>Data to sample</a:t>
            </a:r>
            <a:endParaRPr/>
          </a:p>
        </p:txBody>
      </p:sp>
      <p:pic>
        <p:nvPicPr>
          <p:cNvPr id="108" name="Google Shape;108;p19"/>
          <p:cNvPicPr preferRelativeResize="0"/>
          <p:nvPr/>
        </p:nvPicPr>
        <p:blipFill rotWithShape="1">
          <a:blip r:embed="rId3">
            <a:alphaModFix/>
          </a:blip>
          <a:srcRect b="66678" l="14165" r="40315" t="0"/>
          <a:stretch/>
        </p:blipFill>
        <p:spPr>
          <a:xfrm>
            <a:off x="311725" y="1379900"/>
            <a:ext cx="2491726" cy="123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85525" y="1379900"/>
            <a:ext cx="3034950" cy="357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9"/>
          <p:cNvSpPr txBox="1"/>
          <p:nvPr/>
        </p:nvSpPr>
        <p:spPr>
          <a:xfrm>
            <a:off x="311725" y="2815375"/>
            <a:ext cx="2491800" cy="13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Generators size and minimum and maximum demand adapted from :</a:t>
            </a:r>
            <a:br>
              <a:rPr lang="en" sz="1200">
                <a:latin typeface="Open Sans"/>
                <a:ea typeface="Open Sans"/>
                <a:cs typeface="Open Sans"/>
                <a:sym typeface="Open Sans"/>
              </a:rPr>
            </a:br>
            <a:endParaRPr sz="12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22222"/>
                </a:solidFill>
                <a:highlight>
                  <a:srgbClr val="FFFFFF"/>
                </a:highlight>
              </a:rPr>
              <a:t>Pena, Ivonne, Carlo Brancucci Martinez-Anido, and Bri-Mathias Hodge. "An extended IEEE 118-bus test system with high renewable penetration." </a:t>
            </a:r>
            <a:r>
              <a:rPr i="1" lang="en" sz="1000">
                <a:solidFill>
                  <a:srgbClr val="222222"/>
                </a:solidFill>
                <a:highlight>
                  <a:srgbClr val="FFFFFF"/>
                </a:highlight>
              </a:rPr>
              <a:t>IEEE Transactions on Power Systems</a:t>
            </a:r>
            <a:r>
              <a:rPr lang="en" sz="1000">
                <a:solidFill>
                  <a:srgbClr val="222222"/>
                </a:solidFill>
                <a:highlight>
                  <a:srgbClr val="FFFFFF"/>
                </a:highlight>
              </a:rPr>
              <a:t> 33.1 (2017): 281-289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5525" y="1322800"/>
            <a:ext cx="2818726" cy="3688052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Generation - </a:t>
            </a:r>
            <a:r>
              <a:rPr lang="en"/>
              <a:t>Data to sample</a:t>
            </a:r>
            <a:endParaRPr/>
          </a:p>
        </p:txBody>
      </p:sp>
      <p:pic>
        <p:nvPicPr>
          <p:cNvPr id="117" name="Google Shape;117;p20"/>
          <p:cNvPicPr preferRelativeResize="0"/>
          <p:nvPr/>
        </p:nvPicPr>
        <p:blipFill rotWithShape="1">
          <a:blip r:embed="rId4">
            <a:alphaModFix/>
          </a:blip>
          <a:srcRect b="66678" l="14165" r="40315" t="0"/>
          <a:stretch/>
        </p:blipFill>
        <p:spPr>
          <a:xfrm>
            <a:off x="311725" y="1379900"/>
            <a:ext cx="2491726" cy="123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0"/>
          <p:cNvSpPr txBox="1"/>
          <p:nvPr/>
        </p:nvSpPr>
        <p:spPr>
          <a:xfrm>
            <a:off x="311725" y="2815375"/>
            <a:ext cx="2491800" cy="13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Generators size and minimum and maximum demand adapted from :</a:t>
            </a:r>
            <a:br>
              <a:rPr lang="en" sz="1200">
                <a:latin typeface="Open Sans"/>
                <a:ea typeface="Open Sans"/>
                <a:cs typeface="Open Sans"/>
                <a:sym typeface="Open Sans"/>
              </a:rPr>
            </a:br>
            <a:endParaRPr sz="12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22222"/>
                </a:solidFill>
                <a:highlight>
                  <a:srgbClr val="FFFFFF"/>
                </a:highlight>
              </a:rPr>
              <a:t>Pena, Ivonne, Carlo Brancucci Martinez-Anido, and Bri-Mathias Hodge. "An extended IEEE 118-bus test system with high renewable penetration." </a:t>
            </a:r>
            <a:r>
              <a:rPr i="1" lang="en" sz="1000">
                <a:solidFill>
                  <a:srgbClr val="222222"/>
                </a:solidFill>
                <a:highlight>
                  <a:srgbClr val="FFFFFF"/>
                </a:highlight>
              </a:rPr>
              <a:t>IEEE Transactions on Power Systems</a:t>
            </a:r>
            <a:r>
              <a:rPr lang="en" sz="1000">
                <a:solidFill>
                  <a:srgbClr val="222222"/>
                </a:solidFill>
                <a:highlight>
                  <a:srgbClr val="FFFFFF"/>
                </a:highlight>
              </a:rPr>
              <a:t> 33.1 (2017): 281-289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5750" y="1322800"/>
            <a:ext cx="3155875" cy="3599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1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Generation - </a:t>
            </a:r>
            <a:r>
              <a:rPr lang="en"/>
              <a:t>Data to sample</a:t>
            </a:r>
            <a:r>
              <a:rPr lang="en"/>
              <a:t> </a:t>
            </a:r>
            <a:endParaRPr/>
          </a:p>
        </p:txBody>
      </p:sp>
      <p:pic>
        <p:nvPicPr>
          <p:cNvPr id="125" name="Google Shape;125;p21"/>
          <p:cNvPicPr preferRelativeResize="0"/>
          <p:nvPr/>
        </p:nvPicPr>
        <p:blipFill rotWithShape="1">
          <a:blip r:embed="rId4">
            <a:alphaModFix/>
          </a:blip>
          <a:srcRect b="66678" l="14165" r="40315" t="0"/>
          <a:stretch/>
        </p:blipFill>
        <p:spPr>
          <a:xfrm>
            <a:off x="311725" y="1379900"/>
            <a:ext cx="2491726" cy="123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8143" y="2957518"/>
            <a:ext cx="3215799" cy="96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1"/>
          <p:cNvSpPr txBox="1"/>
          <p:nvPr/>
        </p:nvSpPr>
        <p:spPr>
          <a:xfrm>
            <a:off x="3868500" y="2885738"/>
            <a:ext cx="527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" name="Google Shape;128;p21"/>
          <p:cNvSpPr txBox="1"/>
          <p:nvPr/>
        </p:nvSpPr>
        <p:spPr>
          <a:xfrm>
            <a:off x="311725" y="2815375"/>
            <a:ext cx="2491800" cy="13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Generators size and minimum and maximum demand adapted from :</a:t>
            </a:r>
            <a:br>
              <a:rPr lang="en" sz="1200">
                <a:latin typeface="Open Sans"/>
                <a:ea typeface="Open Sans"/>
                <a:cs typeface="Open Sans"/>
                <a:sym typeface="Open Sans"/>
              </a:rPr>
            </a:br>
            <a:endParaRPr sz="12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22222"/>
                </a:solidFill>
                <a:highlight>
                  <a:srgbClr val="FFFFFF"/>
                </a:highlight>
              </a:rPr>
              <a:t>Pena, Ivonne, Carlo Brancucci Martinez-Anido, and Bri-Mathias Hodge. "An extended IEEE 118-bus test system with high renewable penetration." </a:t>
            </a:r>
            <a:r>
              <a:rPr i="1" lang="en" sz="1000">
                <a:solidFill>
                  <a:srgbClr val="222222"/>
                </a:solidFill>
                <a:highlight>
                  <a:srgbClr val="FFFFFF"/>
                </a:highlight>
              </a:rPr>
              <a:t>IEEE Transactions on Power Systems</a:t>
            </a:r>
            <a:r>
              <a:rPr lang="en" sz="1000">
                <a:solidFill>
                  <a:srgbClr val="222222"/>
                </a:solidFill>
                <a:highlight>
                  <a:srgbClr val="FFFFFF"/>
                </a:highlight>
              </a:rPr>
              <a:t> 33.1 (2017): 281-289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2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Generation - </a:t>
            </a:r>
            <a:r>
              <a:rPr lang="en"/>
              <a:t>Data to sample</a:t>
            </a:r>
            <a:endParaRPr/>
          </a:p>
        </p:txBody>
      </p:sp>
      <p:pic>
        <p:nvPicPr>
          <p:cNvPr id="134" name="Google Shape;134;p22"/>
          <p:cNvPicPr preferRelativeResize="0"/>
          <p:nvPr/>
        </p:nvPicPr>
        <p:blipFill rotWithShape="1">
          <a:blip r:embed="rId3">
            <a:alphaModFix/>
          </a:blip>
          <a:srcRect b="56211" l="37763" r="40729" t="0"/>
          <a:stretch/>
        </p:blipFill>
        <p:spPr>
          <a:xfrm>
            <a:off x="311725" y="1345600"/>
            <a:ext cx="1177298" cy="162635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2"/>
          <p:cNvSpPr txBox="1"/>
          <p:nvPr/>
        </p:nvSpPr>
        <p:spPr>
          <a:xfrm>
            <a:off x="1489025" y="2571750"/>
            <a:ext cx="630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→ Between 0-100% → 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6" name="Google Shape;13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7625" y="2641725"/>
            <a:ext cx="1506425" cy="26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Generation - </a:t>
            </a:r>
            <a:r>
              <a:rPr lang="en"/>
              <a:t>Data to sample</a:t>
            </a:r>
            <a:endParaRPr/>
          </a:p>
        </p:txBody>
      </p:sp>
      <p:pic>
        <p:nvPicPr>
          <p:cNvPr id="142" name="Google Shape;142;p23"/>
          <p:cNvPicPr preferRelativeResize="0"/>
          <p:nvPr/>
        </p:nvPicPr>
        <p:blipFill rotWithShape="1">
          <a:blip r:embed="rId3">
            <a:alphaModFix/>
          </a:blip>
          <a:srcRect b="56038" l="38446" r="0" t="0"/>
          <a:stretch/>
        </p:blipFill>
        <p:spPr>
          <a:xfrm>
            <a:off x="311725" y="1388925"/>
            <a:ext cx="3369550" cy="1632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07800" y="1760500"/>
            <a:ext cx="3668550" cy="49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07800" y="2343950"/>
            <a:ext cx="4082250" cy="45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12300" y="2883425"/>
            <a:ext cx="5120349" cy="25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Generation - </a:t>
            </a:r>
            <a:r>
              <a:rPr lang="en"/>
              <a:t>Data to sample</a:t>
            </a:r>
            <a:endParaRPr/>
          </a:p>
        </p:txBody>
      </p:sp>
      <p:pic>
        <p:nvPicPr>
          <p:cNvPr id="151" name="Google Shape;15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825" y="1334175"/>
            <a:ext cx="5474195" cy="371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4"/>
          <p:cNvSpPr txBox="1"/>
          <p:nvPr/>
        </p:nvSpPr>
        <p:spPr>
          <a:xfrm>
            <a:off x="5638025" y="2951025"/>
            <a:ext cx="351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→ </a:t>
            </a: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Random voltage profile: 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53" name="Google Shape;15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29325" y="3276925"/>
            <a:ext cx="2684026" cy="26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4"/>
          <p:cNvSpPr txBox="1"/>
          <p:nvPr/>
        </p:nvSpPr>
        <p:spPr>
          <a:xfrm>
            <a:off x="5807425" y="4268550"/>
            <a:ext cx="3519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→ </a:t>
            </a: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Random parameters values in a     conventional range</a:t>
            </a: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Generation Application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4" name="Google Shape;164;p26"/>
          <p:cNvCxnSpPr>
            <a:stCxn id="165" idx="2"/>
            <a:endCxn id="166" idx="0"/>
          </p:cNvCxnSpPr>
          <p:nvPr/>
        </p:nvCxnSpPr>
        <p:spPr>
          <a:xfrm>
            <a:off x="1150075" y="3286350"/>
            <a:ext cx="0" cy="65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7" name="Google Shape;167;p26"/>
          <p:cNvSpPr/>
          <p:nvPr/>
        </p:nvSpPr>
        <p:spPr>
          <a:xfrm>
            <a:off x="679225" y="3406575"/>
            <a:ext cx="941700" cy="410400"/>
          </a:xfrm>
          <a:prstGeom prst="diamond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" name="Google Shape;168;p2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 structure - Sampling</a:t>
            </a:r>
            <a:endParaRPr/>
          </a:p>
        </p:txBody>
      </p:sp>
      <p:sp>
        <p:nvSpPr>
          <p:cNvPr id="169" name="Google Shape;169;p26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6"/>
          <p:cNvSpPr/>
          <p:nvPr/>
        </p:nvSpPr>
        <p:spPr>
          <a:xfrm>
            <a:off x="669925" y="3944700"/>
            <a:ext cx="967800" cy="4914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1" name="Google Shape;171;p26"/>
          <p:cNvCxnSpPr>
            <a:stCxn id="172" idx="2"/>
            <a:endCxn id="173" idx="0"/>
          </p:cNvCxnSpPr>
          <p:nvPr/>
        </p:nvCxnSpPr>
        <p:spPr>
          <a:xfrm>
            <a:off x="1153825" y="2128975"/>
            <a:ext cx="0" cy="66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4" name="Google Shape;174;p26"/>
          <p:cNvCxnSpPr>
            <a:stCxn id="166" idx="2"/>
          </p:cNvCxnSpPr>
          <p:nvPr/>
        </p:nvCxnSpPr>
        <p:spPr>
          <a:xfrm rot="-5400000">
            <a:off x="121225" y="2473050"/>
            <a:ext cx="2999400" cy="941700"/>
          </a:xfrm>
          <a:prstGeom prst="bentConnector3">
            <a:avLst>
              <a:gd fmla="val -794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" name="Google Shape;175;p26"/>
          <p:cNvCxnSpPr/>
          <p:nvPr/>
        </p:nvCxnSpPr>
        <p:spPr>
          <a:xfrm flipH="1">
            <a:off x="1146275" y="1444050"/>
            <a:ext cx="9528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" name="Google Shape;176;p26"/>
          <p:cNvCxnSpPr>
            <a:endCxn id="172" idx="0"/>
          </p:cNvCxnSpPr>
          <p:nvPr/>
        </p:nvCxnSpPr>
        <p:spPr>
          <a:xfrm>
            <a:off x="1146325" y="1444075"/>
            <a:ext cx="7500" cy="19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6" name="Google Shape;166;p26"/>
          <p:cNvSpPr/>
          <p:nvPr/>
        </p:nvSpPr>
        <p:spPr>
          <a:xfrm>
            <a:off x="621625" y="3937200"/>
            <a:ext cx="1056900" cy="506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662475" y="1607825"/>
            <a:ext cx="1056900" cy="506400"/>
          </a:xfrm>
          <a:prstGeom prst="rect">
            <a:avLst/>
          </a:prstGeom>
          <a:solidFill>
            <a:srgbClr val="B6D7A8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p26"/>
          <p:cNvSpPr/>
          <p:nvPr/>
        </p:nvSpPr>
        <p:spPr>
          <a:xfrm>
            <a:off x="621625" y="2779950"/>
            <a:ext cx="1056900" cy="506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p26"/>
          <p:cNvSpPr txBox="1"/>
          <p:nvPr/>
        </p:nvSpPr>
        <p:spPr>
          <a:xfrm>
            <a:off x="707025" y="1723325"/>
            <a:ext cx="967800" cy="2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Sampling</a:t>
            </a:r>
            <a:endParaRPr sz="13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" name="Google Shape;179;p26"/>
          <p:cNvSpPr txBox="1"/>
          <p:nvPr/>
        </p:nvSpPr>
        <p:spPr>
          <a:xfrm>
            <a:off x="662475" y="2891700"/>
            <a:ext cx="9678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Analysis</a:t>
            </a:r>
            <a:endParaRPr sz="13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" name="Google Shape;180;p26"/>
          <p:cNvSpPr txBox="1"/>
          <p:nvPr/>
        </p:nvSpPr>
        <p:spPr>
          <a:xfrm>
            <a:off x="621625" y="4093650"/>
            <a:ext cx="1097700" cy="1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Subdivision</a:t>
            </a:r>
            <a:endParaRPr sz="13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p26"/>
          <p:cNvSpPr txBox="1"/>
          <p:nvPr/>
        </p:nvSpPr>
        <p:spPr>
          <a:xfrm>
            <a:off x="710875" y="3505925"/>
            <a:ext cx="885900" cy="1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Stop criteria</a:t>
            </a:r>
            <a:endParaRPr sz="10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2" name="Google Shape;182;p26"/>
          <p:cNvCxnSpPr/>
          <p:nvPr/>
        </p:nvCxnSpPr>
        <p:spPr>
          <a:xfrm>
            <a:off x="1719375" y="1875900"/>
            <a:ext cx="5733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83" name="Google Shape;183;p26"/>
          <p:cNvSpPr txBox="1"/>
          <p:nvPr/>
        </p:nvSpPr>
        <p:spPr>
          <a:xfrm>
            <a:off x="2255375" y="1615325"/>
            <a:ext cx="952800" cy="4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Random generators</a:t>
            </a:r>
            <a:endParaRPr sz="10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4" name="Google Shape;184;p26"/>
          <p:cNvCxnSpPr/>
          <p:nvPr/>
        </p:nvCxnSpPr>
        <p:spPr>
          <a:xfrm>
            <a:off x="1678525" y="3033150"/>
            <a:ext cx="6066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85" name="Google Shape;185;p26"/>
          <p:cNvCxnSpPr>
            <a:stCxn id="166" idx="3"/>
          </p:cNvCxnSpPr>
          <p:nvPr/>
        </p:nvCxnSpPr>
        <p:spPr>
          <a:xfrm>
            <a:off x="1678525" y="4190400"/>
            <a:ext cx="5991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86" name="Google Shape;186;p26"/>
          <p:cNvSpPr txBox="1"/>
          <p:nvPr/>
        </p:nvSpPr>
        <p:spPr>
          <a:xfrm>
            <a:off x="2255375" y="2765088"/>
            <a:ext cx="7668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Entropy analysis</a:t>
            </a:r>
            <a:endParaRPr sz="1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p26"/>
          <p:cNvSpPr txBox="1"/>
          <p:nvPr/>
        </p:nvSpPr>
        <p:spPr>
          <a:xfrm>
            <a:off x="2233175" y="3937200"/>
            <a:ext cx="811200" cy="1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Sensitivity analysis</a:t>
            </a:r>
            <a:endParaRPr sz="10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8" name="Google Shape;18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425038"/>
            <a:ext cx="4316698" cy="323752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9" name="Google Shape;189;p26"/>
          <p:cNvCxnSpPr>
            <a:stCxn id="165" idx="2"/>
            <a:endCxn id="165" idx="2"/>
          </p:cNvCxnSpPr>
          <p:nvPr/>
        </p:nvCxnSpPr>
        <p:spPr>
          <a:xfrm>
            <a:off x="1150075" y="328635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" name="Google Shape;190;p26"/>
          <p:cNvCxnSpPr>
            <a:stCxn id="165" idx="2"/>
            <a:endCxn id="165" idx="2"/>
          </p:cNvCxnSpPr>
          <p:nvPr/>
        </p:nvCxnSpPr>
        <p:spPr>
          <a:xfrm>
            <a:off x="1150075" y="328635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 structure - Entropy analysis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6" name="Google Shape;19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0645" y="2399750"/>
            <a:ext cx="4861674" cy="1326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7" name="Google Shape;197;p27"/>
          <p:cNvCxnSpPr>
            <a:stCxn id="198" idx="2"/>
            <a:endCxn id="199" idx="0"/>
          </p:cNvCxnSpPr>
          <p:nvPr/>
        </p:nvCxnSpPr>
        <p:spPr>
          <a:xfrm>
            <a:off x="1150075" y="3286350"/>
            <a:ext cx="0" cy="65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0" name="Google Shape;200;p27"/>
          <p:cNvSpPr/>
          <p:nvPr/>
        </p:nvSpPr>
        <p:spPr>
          <a:xfrm>
            <a:off x="679225" y="3406575"/>
            <a:ext cx="941700" cy="410400"/>
          </a:xfrm>
          <a:prstGeom prst="diamond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27"/>
          <p:cNvSpPr/>
          <p:nvPr/>
        </p:nvSpPr>
        <p:spPr>
          <a:xfrm>
            <a:off x="669925" y="3944700"/>
            <a:ext cx="967800" cy="4914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2" name="Google Shape;202;p27"/>
          <p:cNvCxnSpPr/>
          <p:nvPr/>
        </p:nvCxnSpPr>
        <p:spPr>
          <a:xfrm>
            <a:off x="1153825" y="2128975"/>
            <a:ext cx="0" cy="66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3" name="Google Shape;203;p27"/>
          <p:cNvCxnSpPr>
            <a:stCxn id="199" idx="2"/>
          </p:cNvCxnSpPr>
          <p:nvPr/>
        </p:nvCxnSpPr>
        <p:spPr>
          <a:xfrm rot="-5400000">
            <a:off x="121225" y="2473050"/>
            <a:ext cx="2999400" cy="941700"/>
          </a:xfrm>
          <a:prstGeom prst="bentConnector3">
            <a:avLst>
              <a:gd fmla="val -793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" name="Google Shape;204;p27"/>
          <p:cNvCxnSpPr/>
          <p:nvPr/>
        </p:nvCxnSpPr>
        <p:spPr>
          <a:xfrm flipH="1">
            <a:off x="1146275" y="1444050"/>
            <a:ext cx="9528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" name="Google Shape;205;p27"/>
          <p:cNvCxnSpPr/>
          <p:nvPr/>
        </p:nvCxnSpPr>
        <p:spPr>
          <a:xfrm>
            <a:off x="1146325" y="1444075"/>
            <a:ext cx="7500" cy="19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9" name="Google Shape;199;p27"/>
          <p:cNvSpPr/>
          <p:nvPr/>
        </p:nvSpPr>
        <p:spPr>
          <a:xfrm>
            <a:off x="621625" y="3937200"/>
            <a:ext cx="1056900" cy="506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27"/>
          <p:cNvSpPr/>
          <p:nvPr/>
        </p:nvSpPr>
        <p:spPr>
          <a:xfrm>
            <a:off x="662475" y="1607825"/>
            <a:ext cx="1056900" cy="506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" name="Google Shape;198;p27"/>
          <p:cNvSpPr/>
          <p:nvPr/>
        </p:nvSpPr>
        <p:spPr>
          <a:xfrm>
            <a:off x="621625" y="2779950"/>
            <a:ext cx="1056900" cy="506400"/>
          </a:xfrm>
          <a:prstGeom prst="rect">
            <a:avLst/>
          </a:prstGeom>
          <a:solidFill>
            <a:srgbClr val="B6D7A8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" name="Google Shape;207;p27"/>
          <p:cNvSpPr txBox="1"/>
          <p:nvPr/>
        </p:nvSpPr>
        <p:spPr>
          <a:xfrm>
            <a:off x="707025" y="1723325"/>
            <a:ext cx="967800" cy="2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Sampling</a:t>
            </a:r>
            <a:endParaRPr sz="13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27"/>
          <p:cNvSpPr txBox="1"/>
          <p:nvPr/>
        </p:nvSpPr>
        <p:spPr>
          <a:xfrm>
            <a:off x="662475" y="2891700"/>
            <a:ext cx="9678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Analysis</a:t>
            </a:r>
            <a:endParaRPr sz="13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9" name="Google Shape;209;p27"/>
          <p:cNvSpPr txBox="1"/>
          <p:nvPr/>
        </p:nvSpPr>
        <p:spPr>
          <a:xfrm>
            <a:off x="621625" y="4093650"/>
            <a:ext cx="1097700" cy="1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Subdivision</a:t>
            </a:r>
            <a:endParaRPr sz="13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" name="Google Shape;210;p27"/>
          <p:cNvSpPr txBox="1"/>
          <p:nvPr/>
        </p:nvSpPr>
        <p:spPr>
          <a:xfrm>
            <a:off x="710875" y="3505925"/>
            <a:ext cx="885900" cy="1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Stop criteria</a:t>
            </a:r>
            <a:endParaRPr sz="10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1" name="Google Shape;211;p27"/>
          <p:cNvCxnSpPr/>
          <p:nvPr/>
        </p:nvCxnSpPr>
        <p:spPr>
          <a:xfrm>
            <a:off x="1719375" y="1875900"/>
            <a:ext cx="5733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12" name="Google Shape;212;p27"/>
          <p:cNvSpPr txBox="1"/>
          <p:nvPr/>
        </p:nvSpPr>
        <p:spPr>
          <a:xfrm>
            <a:off x="2255375" y="1615325"/>
            <a:ext cx="952800" cy="4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Random generators</a:t>
            </a:r>
            <a:endParaRPr sz="10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3" name="Google Shape;213;p27"/>
          <p:cNvCxnSpPr/>
          <p:nvPr/>
        </p:nvCxnSpPr>
        <p:spPr>
          <a:xfrm>
            <a:off x="1678525" y="3033150"/>
            <a:ext cx="6066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27"/>
          <p:cNvCxnSpPr>
            <a:stCxn id="199" idx="3"/>
          </p:cNvCxnSpPr>
          <p:nvPr/>
        </p:nvCxnSpPr>
        <p:spPr>
          <a:xfrm>
            <a:off x="1678525" y="4190400"/>
            <a:ext cx="5991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15" name="Google Shape;215;p27"/>
          <p:cNvSpPr txBox="1"/>
          <p:nvPr/>
        </p:nvSpPr>
        <p:spPr>
          <a:xfrm>
            <a:off x="2255375" y="2765088"/>
            <a:ext cx="7668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Entropy analysis</a:t>
            </a:r>
            <a:endParaRPr sz="1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27"/>
          <p:cNvSpPr txBox="1"/>
          <p:nvPr/>
        </p:nvSpPr>
        <p:spPr>
          <a:xfrm>
            <a:off x="2233175" y="3937200"/>
            <a:ext cx="811200" cy="1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Sensitivity analysis</a:t>
            </a:r>
            <a:endParaRPr sz="10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7" name="Google Shape;217;p27"/>
          <p:cNvCxnSpPr>
            <a:stCxn id="198" idx="2"/>
            <a:endCxn id="198" idx="2"/>
          </p:cNvCxnSpPr>
          <p:nvPr/>
        </p:nvCxnSpPr>
        <p:spPr>
          <a:xfrm>
            <a:off x="1150075" y="328635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" name="Google Shape;218;p27"/>
          <p:cNvCxnSpPr>
            <a:stCxn id="198" idx="2"/>
            <a:endCxn id="198" idx="2"/>
          </p:cNvCxnSpPr>
          <p:nvPr/>
        </p:nvCxnSpPr>
        <p:spPr>
          <a:xfrm>
            <a:off x="1150075" y="328635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 structure - Stop criteria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4" name="Google Shape;224;p28"/>
          <p:cNvCxnSpPr>
            <a:stCxn id="225" idx="2"/>
            <a:endCxn id="226" idx="0"/>
          </p:cNvCxnSpPr>
          <p:nvPr/>
        </p:nvCxnSpPr>
        <p:spPr>
          <a:xfrm>
            <a:off x="1150075" y="3286350"/>
            <a:ext cx="0" cy="65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7" name="Google Shape;227;p28"/>
          <p:cNvSpPr/>
          <p:nvPr/>
        </p:nvSpPr>
        <p:spPr>
          <a:xfrm>
            <a:off x="679225" y="3406575"/>
            <a:ext cx="941700" cy="410400"/>
          </a:xfrm>
          <a:prstGeom prst="diamond">
            <a:avLst/>
          </a:prstGeom>
          <a:solidFill>
            <a:srgbClr val="FCE5CD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" name="Google Shape;228;p28"/>
          <p:cNvSpPr/>
          <p:nvPr/>
        </p:nvSpPr>
        <p:spPr>
          <a:xfrm>
            <a:off x="669925" y="3944700"/>
            <a:ext cx="967800" cy="4914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9" name="Google Shape;229;p28"/>
          <p:cNvCxnSpPr/>
          <p:nvPr/>
        </p:nvCxnSpPr>
        <p:spPr>
          <a:xfrm>
            <a:off x="1153825" y="2128975"/>
            <a:ext cx="0" cy="66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0" name="Google Shape;230;p28"/>
          <p:cNvCxnSpPr>
            <a:stCxn id="226" idx="2"/>
          </p:cNvCxnSpPr>
          <p:nvPr/>
        </p:nvCxnSpPr>
        <p:spPr>
          <a:xfrm rot="-5400000">
            <a:off x="121225" y="2473050"/>
            <a:ext cx="2999400" cy="941700"/>
          </a:xfrm>
          <a:prstGeom prst="bentConnector3">
            <a:avLst>
              <a:gd fmla="val -793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" name="Google Shape;231;p28"/>
          <p:cNvCxnSpPr/>
          <p:nvPr/>
        </p:nvCxnSpPr>
        <p:spPr>
          <a:xfrm flipH="1">
            <a:off x="1146275" y="1444050"/>
            <a:ext cx="9528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" name="Google Shape;232;p28"/>
          <p:cNvCxnSpPr/>
          <p:nvPr/>
        </p:nvCxnSpPr>
        <p:spPr>
          <a:xfrm>
            <a:off x="1146325" y="1444075"/>
            <a:ext cx="7500" cy="19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6" name="Google Shape;226;p28"/>
          <p:cNvSpPr/>
          <p:nvPr/>
        </p:nvSpPr>
        <p:spPr>
          <a:xfrm>
            <a:off x="621625" y="3937200"/>
            <a:ext cx="1056900" cy="506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" name="Google Shape;233;p28"/>
          <p:cNvSpPr/>
          <p:nvPr/>
        </p:nvSpPr>
        <p:spPr>
          <a:xfrm>
            <a:off x="662475" y="1607825"/>
            <a:ext cx="1056900" cy="506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28"/>
          <p:cNvSpPr/>
          <p:nvPr/>
        </p:nvSpPr>
        <p:spPr>
          <a:xfrm>
            <a:off x="621625" y="2779950"/>
            <a:ext cx="1056900" cy="506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4" name="Google Shape;234;p28"/>
          <p:cNvSpPr txBox="1"/>
          <p:nvPr/>
        </p:nvSpPr>
        <p:spPr>
          <a:xfrm>
            <a:off x="707025" y="1723325"/>
            <a:ext cx="967800" cy="2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Sampling</a:t>
            </a:r>
            <a:endParaRPr sz="13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" name="Google Shape;235;p28"/>
          <p:cNvSpPr txBox="1"/>
          <p:nvPr/>
        </p:nvSpPr>
        <p:spPr>
          <a:xfrm>
            <a:off x="662475" y="2891700"/>
            <a:ext cx="9678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Analysis</a:t>
            </a:r>
            <a:endParaRPr sz="13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28"/>
          <p:cNvSpPr txBox="1"/>
          <p:nvPr/>
        </p:nvSpPr>
        <p:spPr>
          <a:xfrm>
            <a:off x="621625" y="4093650"/>
            <a:ext cx="1097700" cy="1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Subdivision</a:t>
            </a:r>
            <a:endParaRPr sz="13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p28"/>
          <p:cNvSpPr txBox="1"/>
          <p:nvPr/>
        </p:nvSpPr>
        <p:spPr>
          <a:xfrm>
            <a:off x="710875" y="3505925"/>
            <a:ext cx="885900" cy="1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Stop criteria</a:t>
            </a:r>
            <a:endParaRPr sz="10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8" name="Google Shape;238;p28"/>
          <p:cNvCxnSpPr/>
          <p:nvPr/>
        </p:nvCxnSpPr>
        <p:spPr>
          <a:xfrm>
            <a:off x="1719375" y="1875900"/>
            <a:ext cx="5733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39" name="Google Shape;239;p28"/>
          <p:cNvSpPr txBox="1"/>
          <p:nvPr/>
        </p:nvSpPr>
        <p:spPr>
          <a:xfrm>
            <a:off x="2255375" y="1615325"/>
            <a:ext cx="952800" cy="4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Random generators</a:t>
            </a:r>
            <a:endParaRPr sz="10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0" name="Google Shape;240;p28"/>
          <p:cNvCxnSpPr/>
          <p:nvPr/>
        </p:nvCxnSpPr>
        <p:spPr>
          <a:xfrm>
            <a:off x="1678525" y="3033150"/>
            <a:ext cx="6066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41" name="Google Shape;241;p28"/>
          <p:cNvCxnSpPr>
            <a:stCxn id="226" idx="3"/>
          </p:cNvCxnSpPr>
          <p:nvPr/>
        </p:nvCxnSpPr>
        <p:spPr>
          <a:xfrm>
            <a:off x="1678525" y="4190400"/>
            <a:ext cx="5991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42" name="Google Shape;242;p28"/>
          <p:cNvSpPr txBox="1"/>
          <p:nvPr/>
        </p:nvSpPr>
        <p:spPr>
          <a:xfrm>
            <a:off x="2255375" y="2765088"/>
            <a:ext cx="7668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Entropy analysis</a:t>
            </a:r>
            <a:endParaRPr sz="1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28"/>
          <p:cNvSpPr txBox="1"/>
          <p:nvPr/>
        </p:nvSpPr>
        <p:spPr>
          <a:xfrm>
            <a:off x="2233175" y="3937200"/>
            <a:ext cx="811200" cy="1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Sensitivity analysis</a:t>
            </a:r>
            <a:endParaRPr sz="10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4" name="Google Shape;244;p28"/>
          <p:cNvCxnSpPr>
            <a:stCxn id="225" idx="2"/>
            <a:endCxn id="225" idx="2"/>
          </p:cNvCxnSpPr>
          <p:nvPr/>
        </p:nvCxnSpPr>
        <p:spPr>
          <a:xfrm>
            <a:off x="1150075" y="328635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" name="Google Shape;245;p28"/>
          <p:cNvCxnSpPr>
            <a:stCxn id="225" idx="2"/>
            <a:endCxn id="225" idx="2"/>
          </p:cNvCxnSpPr>
          <p:nvPr/>
        </p:nvCxnSpPr>
        <p:spPr>
          <a:xfrm>
            <a:off x="1150075" y="328635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6" name="Google Shape;246;p28"/>
          <p:cNvSpPr txBox="1"/>
          <p:nvPr/>
        </p:nvSpPr>
        <p:spPr>
          <a:xfrm>
            <a:off x="4376825" y="1607825"/>
            <a:ext cx="4287600" cy="28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Depth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Max depth defined by user (before execution)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Tolerance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Fraction of the dimensions within the first cell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Defined by user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Delta Entropy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Difference between current entropy and the inherited one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9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 structure - Subdivision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9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3" name="Google Shape;25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418238"/>
            <a:ext cx="4385923" cy="3289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4" name="Google Shape;254;p29"/>
          <p:cNvCxnSpPr>
            <a:stCxn id="255" idx="2"/>
            <a:endCxn id="256" idx="0"/>
          </p:cNvCxnSpPr>
          <p:nvPr/>
        </p:nvCxnSpPr>
        <p:spPr>
          <a:xfrm>
            <a:off x="1150075" y="3286350"/>
            <a:ext cx="0" cy="65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7" name="Google Shape;257;p29"/>
          <p:cNvSpPr/>
          <p:nvPr/>
        </p:nvSpPr>
        <p:spPr>
          <a:xfrm>
            <a:off x="679225" y="3406575"/>
            <a:ext cx="941700" cy="410400"/>
          </a:xfrm>
          <a:prstGeom prst="diamond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" name="Google Shape;258;p29"/>
          <p:cNvSpPr/>
          <p:nvPr/>
        </p:nvSpPr>
        <p:spPr>
          <a:xfrm>
            <a:off x="669925" y="3944700"/>
            <a:ext cx="967800" cy="4914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9" name="Google Shape;259;p29"/>
          <p:cNvCxnSpPr/>
          <p:nvPr/>
        </p:nvCxnSpPr>
        <p:spPr>
          <a:xfrm>
            <a:off x="1153825" y="2128975"/>
            <a:ext cx="0" cy="66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0" name="Google Shape;260;p29"/>
          <p:cNvCxnSpPr>
            <a:stCxn id="256" idx="2"/>
          </p:cNvCxnSpPr>
          <p:nvPr/>
        </p:nvCxnSpPr>
        <p:spPr>
          <a:xfrm rot="-5400000">
            <a:off x="121225" y="2473050"/>
            <a:ext cx="2999400" cy="941700"/>
          </a:xfrm>
          <a:prstGeom prst="bentConnector3">
            <a:avLst>
              <a:gd fmla="val -793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" name="Google Shape;261;p29"/>
          <p:cNvCxnSpPr/>
          <p:nvPr/>
        </p:nvCxnSpPr>
        <p:spPr>
          <a:xfrm flipH="1">
            <a:off x="1146275" y="1444050"/>
            <a:ext cx="9528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" name="Google Shape;262;p29"/>
          <p:cNvCxnSpPr/>
          <p:nvPr/>
        </p:nvCxnSpPr>
        <p:spPr>
          <a:xfrm>
            <a:off x="1146325" y="1444075"/>
            <a:ext cx="7500" cy="19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6" name="Google Shape;256;p29"/>
          <p:cNvSpPr/>
          <p:nvPr/>
        </p:nvSpPr>
        <p:spPr>
          <a:xfrm>
            <a:off x="621625" y="3937200"/>
            <a:ext cx="1056900" cy="506400"/>
          </a:xfrm>
          <a:prstGeom prst="rect">
            <a:avLst/>
          </a:prstGeom>
          <a:solidFill>
            <a:srgbClr val="B6D7A8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" name="Google Shape;263;p29"/>
          <p:cNvSpPr/>
          <p:nvPr/>
        </p:nvSpPr>
        <p:spPr>
          <a:xfrm>
            <a:off x="662475" y="1607825"/>
            <a:ext cx="1056900" cy="506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" name="Google Shape;255;p29"/>
          <p:cNvSpPr/>
          <p:nvPr/>
        </p:nvSpPr>
        <p:spPr>
          <a:xfrm>
            <a:off x="621625" y="2779950"/>
            <a:ext cx="1056900" cy="506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" name="Google Shape;264;p29"/>
          <p:cNvSpPr txBox="1"/>
          <p:nvPr/>
        </p:nvSpPr>
        <p:spPr>
          <a:xfrm>
            <a:off x="707025" y="1723325"/>
            <a:ext cx="967800" cy="2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Sampling</a:t>
            </a:r>
            <a:endParaRPr sz="13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" name="Google Shape;265;p29"/>
          <p:cNvSpPr txBox="1"/>
          <p:nvPr/>
        </p:nvSpPr>
        <p:spPr>
          <a:xfrm>
            <a:off x="662475" y="2891700"/>
            <a:ext cx="9678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Analysis</a:t>
            </a:r>
            <a:endParaRPr sz="13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" name="Google Shape;266;p29"/>
          <p:cNvSpPr txBox="1"/>
          <p:nvPr/>
        </p:nvSpPr>
        <p:spPr>
          <a:xfrm>
            <a:off x="621625" y="4093650"/>
            <a:ext cx="1097700" cy="1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Subdivision</a:t>
            </a:r>
            <a:endParaRPr sz="13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p29"/>
          <p:cNvSpPr txBox="1"/>
          <p:nvPr/>
        </p:nvSpPr>
        <p:spPr>
          <a:xfrm>
            <a:off x="710875" y="3505925"/>
            <a:ext cx="885900" cy="1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Stop criteria</a:t>
            </a:r>
            <a:endParaRPr sz="10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8" name="Google Shape;268;p29"/>
          <p:cNvCxnSpPr/>
          <p:nvPr/>
        </p:nvCxnSpPr>
        <p:spPr>
          <a:xfrm>
            <a:off x="1719375" y="1875900"/>
            <a:ext cx="5733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69" name="Google Shape;269;p29"/>
          <p:cNvSpPr txBox="1"/>
          <p:nvPr/>
        </p:nvSpPr>
        <p:spPr>
          <a:xfrm>
            <a:off x="2255375" y="1615325"/>
            <a:ext cx="952800" cy="4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Random generators</a:t>
            </a:r>
            <a:endParaRPr sz="10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0" name="Google Shape;270;p29"/>
          <p:cNvCxnSpPr/>
          <p:nvPr/>
        </p:nvCxnSpPr>
        <p:spPr>
          <a:xfrm>
            <a:off x="1678525" y="3033150"/>
            <a:ext cx="6066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71" name="Google Shape;271;p29"/>
          <p:cNvCxnSpPr>
            <a:stCxn id="256" idx="3"/>
          </p:cNvCxnSpPr>
          <p:nvPr/>
        </p:nvCxnSpPr>
        <p:spPr>
          <a:xfrm>
            <a:off x="1678525" y="4190400"/>
            <a:ext cx="5991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72" name="Google Shape;272;p29"/>
          <p:cNvSpPr txBox="1"/>
          <p:nvPr/>
        </p:nvSpPr>
        <p:spPr>
          <a:xfrm>
            <a:off x="2255375" y="2765088"/>
            <a:ext cx="7668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Entropy analysis</a:t>
            </a:r>
            <a:endParaRPr sz="1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" name="Google Shape;273;p29"/>
          <p:cNvSpPr txBox="1"/>
          <p:nvPr/>
        </p:nvSpPr>
        <p:spPr>
          <a:xfrm>
            <a:off x="2233175" y="3937200"/>
            <a:ext cx="811200" cy="1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Sensitivity analysis</a:t>
            </a:r>
            <a:endParaRPr sz="10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4" name="Google Shape;274;p29"/>
          <p:cNvCxnSpPr>
            <a:stCxn id="255" idx="2"/>
            <a:endCxn id="255" idx="2"/>
          </p:cNvCxnSpPr>
          <p:nvPr/>
        </p:nvCxnSpPr>
        <p:spPr>
          <a:xfrm>
            <a:off x="1150075" y="328635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5" name="Google Shape;275;p29"/>
          <p:cNvCxnSpPr>
            <a:stCxn id="255" idx="2"/>
            <a:endCxn id="255" idx="2"/>
          </p:cNvCxnSpPr>
          <p:nvPr/>
        </p:nvCxnSpPr>
        <p:spPr>
          <a:xfrm>
            <a:off x="1150075" y="328635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 structure - Sampling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0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82" name="Google Shape;28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415425"/>
            <a:ext cx="4393426" cy="32950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3" name="Google Shape;283;p30"/>
          <p:cNvCxnSpPr>
            <a:stCxn id="284" idx="2"/>
            <a:endCxn id="285" idx="0"/>
          </p:cNvCxnSpPr>
          <p:nvPr/>
        </p:nvCxnSpPr>
        <p:spPr>
          <a:xfrm>
            <a:off x="1150075" y="3286350"/>
            <a:ext cx="0" cy="65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6" name="Google Shape;286;p30"/>
          <p:cNvSpPr/>
          <p:nvPr/>
        </p:nvSpPr>
        <p:spPr>
          <a:xfrm>
            <a:off x="679225" y="3406575"/>
            <a:ext cx="941700" cy="410400"/>
          </a:xfrm>
          <a:prstGeom prst="diamond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" name="Google Shape;287;p30"/>
          <p:cNvSpPr/>
          <p:nvPr/>
        </p:nvSpPr>
        <p:spPr>
          <a:xfrm>
            <a:off x="669925" y="3944700"/>
            <a:ext cx="967800" cy="4914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8" name="Google Shape;288;p30"/>
          <p:cNvCxnSpPr/>
          <p:nvPr/>
        </p:nvCxnSpPr>
        <p:spPr>
          <a:xfrm>
            <a:off x="1153825" y="2128975"/>
            <a:ext cx="0" cy="66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9" name="Google Shape;289;p30"/>
          <p:cNvCxnSpPr>
            <a:stCxn id="285" idx="2"/>
          </p:cNvCxnSpPr>
          <p:nvPr/>
        </p:nvCxnSpPr>
        <p:spPr>
          <a:xfrm rot="-5400000">
            <a:off x="121225" y="2473050"/>
            <a:ext cx="2999400" cy="941700"/>
          </a:xfrm>
          <a:prstGeom prst="bentConnector3">
            <a:avLst>
              <a:gd fmla="val -793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" name="Google Shape;290;p30"/>
          <p:cNvCxnSpPr/>
          <p:nvPr/>
        </p:nvCxnSpPr>
        <p:spPr>
          <a:xfrm flipH="1">
            <a:off x="1146275" y="1444050"/>
            <a:ext cx="9528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" name="Google Shape;291;p30"/>
          <p:cNvCxnSpPr/>
          <p:nvPr/>
        </p:nvCxnSpPr>
        <p:spPr>
          <a:xfrm>
            <a:off x="1146325" y="1444075"/>
            <a:ext cx="7500" cy="19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5" name="Google Shape;285;p30"/>
          <p:cNvSpPr/>
          <p:nvPr/>
        </p:nvSpPr>
        <p:spPr>
          <a:xfrm>
            <a:off x="621625" y="3937200"/>
            <a:ext cx="1056900" cy="506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2" name="Google Shape;292;p30"/>
          <p:cNvSpPr/>
          <p:nvPr/>
        </p:nvSpPr>
        <p:spPr>
          <a:xfrm>
            <a:off x="662475" y="1607825"/>
            <a:ext cx="1056900" cy="506400"/>
          </a:xfrm>
          <a:prstGeom prst="rect">
            <a:avLst/>
          </a:prstGeom>
          <a:solidFill>
            <a:srgbClr val="B6D7A8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4" name="Google Shape;284;p30"/>
          <p:cNvSpPr/>
          <p:nvPr/>
        </p:nvSpPr>
        <p:spPr>
          <a:xfrm>
            <a:off x="621625" y="2779950"/>
            <a:ext cx="1056900" cy="506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3" name="Google Shape;293;p30"/>
          <p:cNvSpPr txBox="1"/>
          <p:nvPr/>
        </p:nvSpPr>
        <p:spPr>
          <a:xfrm>
            <a:off x="707025" y="1723325"/>
            <a:ext cx="967800" cy="2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Sampling</a:t>
            </a:r>
            <a:endParaRPr sz="13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662475" y="2891700"/>
            <a:ext cx="9678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Analysis</a:t>
            </a:r>
            <a:endParaRPr sz="13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621625" y="4093650"/>
            <a:ext cx="1097700" cy="1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Subdivision</a:t>
            </a:r>
            <a:endParaRPr sz="13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" name="Google Shape;296;p30"/>
          <p:cNvSpPr txBox="1"/>
          <p:nvPr/>
        </p:nvSpPr>
        <p:spPr>
          <a:xfrm>
            <a:off x="710875" y="3505925"/>
            <a:ext cx="885900" cy="1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Stop criteria</a:t>
            </a:r>
            <a:endParaRPr sz="10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7" name="Google Shape;297;p30"/>
          <p:cNvCxnSpPr/>
          <p:nvPr/>
        </p:nvCxnSpPr>
        <p:spPr>
          <a:xfrm>
            <a:off x="1719375" y="1875900"/>
            <a:ext cx="5733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98" name="Google Shape;298;p30"/>
          <p:cNvSpPr txBox="1"/>
          <p:nvPr/>
        </p:nvSpPr>
        <p:spPr>
          <a:xfrm>
            <a:off x="2255375" y="1615325"/>
            <a:ext cx="952800" cy="4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Random generators</a:t>
            </a:r>
            <a:endParaRPr sz="10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9" name="Google Shape;299;p30"/>
          <p:cNvCxnSpPr/>
          <p:nvPr/>
        </p:nvCxnSpPr>
        <p:spPr>
          <a:xfrm>
            <a:off x="1678525" y="3033150"/>
            <a:ext cx="6066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300" name="Google Shape;300;p30"/>
          <p:cNvCxnSpPr>
            <a:stCxn id="285" idx="3"/>
          </p:cNvCxnSpPr>
          <p:nvPr/>
        </p:nvCxnSpPr>
        <p:spPr>
          <a:xfrm>
            <a:off x="1678525" y="4190400"/>
            <a:ext cx="5991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01" name="Google Shape;301;p30"/>
          <p:cNvSpPr txBox="1"/>
          <p:nvPr/>
        </p:nvSpPr>
        <p:spPr>
          <a:xfrm>
            <a:off x="2255375" y="2765088"/>
            <a:ext cx="7668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Entropy analysis</a:t>
            </a:r>
            <a:endParaRPr sz="1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" name="Google Shape;302;p30"/>
          <p:cNvSpPr txBox="1"/>
          <p:nvPr/>
        </p:nvSpPr>
        <p:spPr>
          <a:xfrm>
            <a:off x="2233175" y="3937200"/>
            <a:ext cx="811200" cy="1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Sensitivity analysis</a:t>
            </a:r>
            <a:endParaRPr sz="10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3" name="Google Shape;303;p30"/>
          <p:cNvCxnSpPr>
            <a:stCxn id="284" idx="2"/>
            <a:endCxn id="284" idx="2"/>
          </p:cNvCxnSpPr>
          <p:nvPr/>
        </p:nvCxnSpPr>
        <p:spPr>
          <a:xfrm>
            <a:off x="1150075" y="328635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" name="Google Shape;304;p30"/>
          <p:cNvCxnSpPr>
            <a:stCxn id="284" idx="2"/>
            <a:endCxn id="284" idx="2"/>
          </p:cNvCxnSpPr>
          <p:nvPr/>
        </p:nvCxnSpPr>
        <p:spPr>
          <a:xfrm>
            <a:off x="1150075" y="328635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1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sampling functions</a:t>
            </a:r>
            <a:endParaRPr/>
          </a:p>
        </p:txBody>
      </p:sp>
      <p:sp>
        <p:nvSpPr>
          <p:cNvPr id="310" name="Google Shape;310;p31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Normal generator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N</a:t>
            </a:r>
            <a:r>
              <a:rPr lang="en"/>
              <a:t>ormal distribution centered around the means of the variables, so that they sum to the desired value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Extreme generator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Assign random values to variables until they sum to the desired value</a:t>
            </a:r>
            <a:endParaRPr/>
          </a:p>
        </p:txBody>
      </p:sp>
      <p:sp>
        <p:nvSpPr>
          <p:cNvPr id="311" name="Google Shape;311;p31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2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Sensitivity analysis and cell division</a:t>
            </a:r>
            <a:endParaRPr/>
          </a:p>
        </p:txBody>
      </p:sp>
      <p:sp>
        <p:nvSpPr>
          <p:cNvPr id="317" name="Google Shape;317;p32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Pre-defined divisions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User </a:t>
            </a:r>
            <a:r>
              <a:rPr lang="en"/>
              <a:t>assigns</a:t>
            </a:r>
            <a:r>
              <a:rPr lang="en"/>
              <a:t> dimensions divisions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Constant through all execution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It does not fit the characteristics of the explored region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Sensitivity analysis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Performed by each cell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Random Forest based on the samples taken by the cell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Assign subdivisions according to the importances of each dimension in the </a:t>
            </a:r>
            <a:r>
              <a:rPr lang="en"/>
              <a:t>decision</a:t>
            </a:r>
            <a:endParaRPr/>
          </a:p>
        </p:txBody>
      </p:sp>
      <p:sp>
        <p:nvSpPr>
          <p:cNvPr id="318" name="Google Shape;318;p32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