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8DCEAE-AECD-4C7D-A896-7ADD142BB65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23082C7-DD03-44CD-9A55-E1FEAE44BBA5}">
      <dgm:prSet phldrT="[Text]"/>
      <dgm:spPr/>
      <dgm:t>
        <a:bodyPr/>
        <a:lstStyle/>
        <a:p>
          <a:r>
            <a:rPr lang="it-IT" dirty="0"/>
            <a:t>Power Flow</a:t>
          </a:r>
        </a:p>
      </dgm:t>
    </dgm:pt>
    <dgm:pt modelId="{2DB5273E-EDC0-4E90-B58E-8A48E7C817EB}" type="parTrans" cxnId="{73F0E6EA-D18C-4B57-96D4-97FB9CC84F40}">
      <dgm:prSet/>
      <dgm:spPr/>
      <dgm:t>
        <a:bodyPr/>
        <a:lstStyle/>
        <a:p>
          <a:endParaRPr lang="it-IT"/>
        </a:p>
      </dgm:t>
    </dgm:pt>
    <dgm:pt modelId="{13711CE0-4B20-430E-93C5-AC02A433F374}" type="sibTrans" cxnId="{73F0E6EA-D18C-4B57-96D4-97FB9CC84F40}">
      <dgm:prSet/>
      <dgm:spPr/>
      <dgm:t>
        <a:bodyPr/>
        <a:lstStyle/>
        <a:p>
          <a:endParaRPr lang="it-IT"/>
        </a:p>
      </dgm:t>
    </dgm:pt>
    <dgm:pt modelId="{13E2A61C-7A85-4A3B-B24C-1808FDFDF30D}">
      <dgm:prSet phldrT="[Text]"/>
      <dgm:spPr/>
      <dgm:t>
        <a:bodyPr/>
        <a:lstStyle/>
        <a:p>
          <a:r>
            <a:rPr lang="it-IT" dirty="0"/>
            <a:t>Punto de linearización </a:t>
          </a:r>
        </a:p>
      </dgm:t>
    </dgm:pt>
    <dgm:pt modelId="{3AA8A285-C80A-4312-9062-D812FEDB0B94}" type="parTrans" cxnId="{A75FBC28-C92C-4F9D-9168-2C0040629E50}">
      <dgm:prSet/>
      <dgm:spPr/>
      <dgm:t>
        <a:bodyPr/>
        <a:lstStyle/>
        <a:p>
          <a:endParaRPr lang="it-IT"/>
        </a:p>
      </dgm:t>
    </dgm:pt>
    <dgm:pt modelId="{DC4FC515-CDCE-4E24-A1BE-B9AFE28B3A90}" type="sibTrans" cxnId="{A75FBC28-C92C-4F9D-9168-2C0040629E50}">
      <dgm:prSet/>
      <dgm:spPr/>
      <dgm:t>
        <a:bodyPr/>
        <a:lstStyle/>
        <a:p>
          <a:endParaRPr lang="it-IT"/>
        </a:p>
      </dgm:t>
    </dgm:pt>
    <dgm:pt modelId="{9A9F54E6-A660-4CE6-A329-8EE516F85C5C}">
      <dgm:prSet phldrT="[Text]"/>
      <dgm:spPr/>
      <dgm:t>
        <a:bodyPr/>
        <a:lstStyle/>
        <a:p>
          <a:r>
            <a:rPr lang="it-IT" dirty="0"/>
            <a:t>Espacio de estados</a:t>
          </a:r>
        </a:p>
      </dgm:t>
    </dgm:pt>
    <dgm:pt modelId="{413BAA6E-7269-4964-ADBB-1AF9E196B2A9}" type="parTrans" cxnId="{52C0A9C5-0A86-4237-BC21-9F7B2E5D9CF3}">
      <dgm:prSet/>
      <dgm:spPr/>
      <dgm:t>
        <a:bodyPr/>
        <a:lstStyle/>
        <a:p>
          <a:endParaRPr lang="it-IT"/>
        </a:p>
      </dgm:t>
    </dgm:pt>
    <dgm:pt modelId="{0770ED53-CBEE-4B89-93A2-2389CAD0ED70}" type="sibTrans" cxnId="{52C0A9C5-0A86-4237-BC21-9F7B2E5D9CF3}">
      <dgm:prSet/>
      <dgm:spPr/>
      <dgm:t>
        <a:bodyPr/>
        <a:lstStyle/>
        <a:p>
          <a:endParaRPr lang="it-IT"/>
        </a:p>
      </dgm:t>
    </dgm:pt>
    <dgm:pt modelId="{750B0860-BA8A-4742-BA26-012C0AAE23E0}" type="pres">
      <dgm:prSet presAssocID="{E48DCEAE-AECD-4C7D-A896-7ADD142BB65D}" presName="Name0" presStyleCnt="0">
        <dgm:presLayoutVars>
          <dgm:dir/>
          <dgm:resizeHandles val="exact"/>
        </dgm:presLayoutVars>
      </dgm:prSet>
      <dgm:spPr/>
    </dgm:pt>
    <dgm:pt modelId="{8A5C3606-EEA4-4609-AC53-0971416BA864}" type="pres">
      <dgm:prSet presAssocID="{723082C7-DD03-44CD-9A55-E1FEAE44BBA5}" presName="node" presStyleLbl="node1" presStyleIdx="0" presStyleCnt="3">
        <dgm:presLayoutVars>
          <dgm:bulletEnabled val="1"/>
        </dgm:presLayoutVars>
      </dgm:prSet>
      <dgm:spPr/>
    </dgm:pt>
    <dgm:pt modelId="{2444D054-7AF5-4F0C-BF7A-281FA6168406}" type="pres">
      <dgm:prSet presAssocID="{13711CE0-4B20-430E-93C5-AC02A433F374}" presName="sibTrans" presStyleLbl="sibTrans2D1" presStyleIdx="0" presStyleCnt="2" custLinFactNeighborX="1746" custLinFactNeighborY="0"/>
      <dgm:spPr/>
    </dgm:pt>
    <dgm:pt modelId="{733B7CB5-965F-496F-87CA-CE3AAC6C64FC}" type="pres">
      <dgm:prSet presAssocID="{13711CE0-4B20-430E-93C5-AC02A433F374}" presName="connectorText" presStyleLbl="sibTrans2D1" presStyleIdx="0" presStyleCnt="2"/>
      <dgm:spPr/>
    </dgm:pt>
    <dgm:pt modelId="{0372B7DD-46CA-43E8-9A09-8603302E7849}" type="pres">
      <dgm:prSet presAssocID="{13E2A61C-7A85-4A3B-B24C-1808FDFDF30D}" presName="node" presStyleLbl="node1" presStyleIdx="1" presStyleCnt="3">
        <dgm:presLayoutVars>
          <dgm:bulletEnabled val="1"/>
        </dgm:presLayoutVars>
      </dgm:prSet>
      <dgm:spPr/>
    </dgm:pt>
    <dgm:pt modelId="{23A1C906-D320-427D-A945-71BE52D45A7A}" type="pres">
      <dgm:prSet presAssocID="{DC4FC515-CDCE-4E24-A1BE-B9AFE28B3A90}" presName="sibTrans" presStyleLbl="sibTrans2D1" presStyleIdx="1" presStyleCnt="2"/>
      <dgm:spPr/>
    </dgm:pt>
    <dgm:pt modelId="{144B649F-0BA4-4A01-B833-BA2F36FD1701}" type="pres">
      <dgm:prSet presAssocID="{DC4FC515-CDCE-4E24-A1BE-B9AFE28B3A90}" presName="connectorText" presStyleLbl="sibTrans2D1" presStyleIdx="1" presStyleCnt="2"/>
      <dgm:spPr/>
    </dgm:pt>
    <dgm:pt modelId="{B526C969-7329-4A48-8BBC-E8FC50242E95}" type="pres">
      <dgm:prSet presAssocID="{9A9F54E6-A660-4CE6-A329-8EE516F85C5C}" presName="node" presStyleLbl="node1" presStyleIdx="2" presStyleCnt="3">
        <dgm:presLayoutVars>
          <dgm:bulletEnabled val="1"/>
        </dgm:presLayoutVars>
      </dgm:prSet>
      <dgm:spPr/>
    </dgm:pt>
  </dgm:ptLst>
  <dgm:cxnLst>
    <dgm:cxn modelId="{54BA4709-3A13-4BE7-9919-48C498E614FD}" type="presOf" srcId="{9A9F54E6-A660-4CE6-A329-8EE516F85C5C}" destId="{B526C969-7329-4A48-8BBC-E8FC50242E95}" srcOrd="0" destOrd="0" presId="urn:microsoft.com/office/officeart/2005/8/layout/process1"/>
    <dgm:cxn modelId="{653CD113-1DD4-4B11-ABC4-FC946694B182}" type="presOf" srcId="{13711CE0-4B20-430E-93C5-AC02A433F374}" destId="{2444D054-7AF5-4F0C-BF7A-281FA6168406}" srcOrd="0" destOrd="0" presId="urn:microsoft.com/office/officeart/2005/8/layout/process1"/>
    <dgm:cxn modelId="{26D61818-C9FF-4061-A5B5-940873CC0A40}" type="presOf" srcId="{723082C7-DD03-44CD-9A55-E1FEAE44BBA5}" destId="{8A5C3606-EEA4-4609-AC53-0971416BA864}" srcOrd="0" destOrd="0" presId="urn:microsoft.com/office/officeart/2005/8/layout/process1"/>
    <dgm:cxn modelId="{A75FBC28-C92C-4F9D-9168-2C0040629E50}" srcId="{E48DCEAE-AECD-4C7D-A896-7ADD142BB65D}" destId="{13E2A61C-7A85-4A3B-B24C-1808FDFDF30D}" srcOrd="1" destOrd="0" parTransId="{3AA8A285-C80A-4312-9062-D812FEDB0B94}" sibTransId="{DC4FC515-CDCE-4E24-A1BE-B9AFE28B3A90}"/>
    <dgm:cxn modelId="{961C283B-76D4-4E77-BFF5-F7670192139B}" type="presOf" srcId="{DC4FC515-CDCE-4E24-A1BE-B9AFE28B3A90}" destId="{144B649F-0BA4-4A01-B833-BA2F36FD1701}" srcOrd="1" destOrd="0" presId="urn:microsoft.com/office/officeart/2005/8/layout/process1"/>
    <dgm:cxn modelId="{66D39460-5DBD-4111-A760-29C9FC300A20}" type="presOf" srcId="{DC4FC515-CDCE-4E24-A1BE-B9AFE28B3A90}" destId="{23A1C906-D320-427D-A945-71BE52D45A7A}" srcOrd="0" destOrd="0" presId="urn:microsoft.com/office/officeart/2005/8/layout/process1"/>
    <dgm:cxn modelId="{2789209C-75ED-4700-B8BA-CB1C3BE920BF}" type="presOf" srcId="{13711CE0-4B20-430E-93C5-AC02A433F374}" destId="{733B7CB5-965F-496F-87CA-CE3AAC6C64FC}" srcOrd="1" destOrd="0" presId="urn:microsoft.com/office/officeart/2005/8/layout/process1"/>
    <dgm:cxn modelId="{52C0A9C5-0A86-4237-BC21-9F7B2E5D9CF3}" srcId="{E48DCEAE-AECD-4C7D-A896-7ADD142BB65D}" destId="{9A9F54E6-A660-4CE6-A329-8EE516F85C5C}" srcOrd="2" destOrd="0" parTransId="{413BAA6E-7269-4964-ADBB-1AF9E196B2A9}" sibTransId="{0770ED53-CBEE-4B89-93A2-2389CAD0ED70}"/>
    <dgm:cxn modelId="{9C3F14C6-A58D-49B3-ACEC-7B9FDC83CAD5}" type="presOf" srcId="{E48DCEAE-AECD-4C7D-A896-7ADD142BB65D}" destId="{750B0860-BA8A-4742-BA26-012C0AAE23E0}" srcOrd="0" destOrd="0" presId="urn:microsoft.com/office/officeart/2005/8/layout/process1"/>
    <dgm:cxn modelId="{A611D6DA-0454-4A7D-A6A2-7CFCEB795EAD}" type="presOf" srcId="{13E2A61C-7A85-4A3B-B24C-1808FDFDF30D}" destId="{0372B7DD-46CA-43E8-9A09-8603302E7849}" srcOrd="0" destOrd="0" presId="urn:microsoft.com/office/officeart/2005/8/layout/process1"/>
    <dgm:cxn modelId="{73F0E6EA-D18C-4B57-96D4-97FB9CC84F40}" srcId="{E48DCEAE-AECD-4C7D-A896-7ADD142BB65D}" destId="{723082C7-DD03-44CD-9A55-E1FEAE44BBA5}" srcOrd="0" destOrd="0" parTransId="{2DB5273E-EDC0-4E90-B58E-8A48E7C817EB}" sibTransId="{13711CE0-4B20-430E-93C5-AC02A433F374}"/>
    <dgm:cxn modelId="{1870F1A5-5F05-4ECE-A33C-C2C0EB8095B8}" type="presParOf" srcId="{750B0860-BA8A-4742-BA26-012C0AAE23E0}" destId="{8A5C3606-EEA4-4609-AC53-0971416BA864}" srcOrd="0" destOrd="0" presId="urn:microsoft.com/office/officeart/2005/8/layout/process1"/>
    <dgm:cxn modelId="{5689A897-482A-48A1-9CC4-78487D38FB41}" type="presParOf" srcId="{750B0860-BA8A-4742-BA26-012C0AAE23E0}" destId="{2444D054-7AF5-4F0C-BF7A-281FA6168406}" srcOrd="1" destOrd="0" presId="urn:microsoft.com/office/officeart/2005/8/layout/process1"/>
    <dgm:cxn modelId="{D150346D-412A-47CA-B7B0-343365EC6D1C}" type="presParOf" srcId="{2444D054-7AF5-4F0C-BF7A-281FA6168406}" destId="{733B7CB5-965F-496F-87CA-CE3AAC6C64FC}" srcOrd="0" destOrd="0" presId="urn:microsoft.com/office/officeart/2005/8/layout/process1"/>
    <dgm:cxn modelId="{BE23C91E-167D-405F-9E3D-2270806B0512}" type="presParOf" srcId="{750B0860-BA8A-4742-BA26-012C0AAE23E0}" destId="{0372B7DD-46CA-43E8-9A09-8603302E7849}" srcOrd="2" destOrd="0" presId="urn:microsoft.com/office/officeart/2005/8/layout/process1"/>
    <dgm:cxn modelId="{796A2E7B-0BA7-48BF-B833-EE5D33B807EC}" type="presParOf" srcId="{750B0860-BA8A-4742-BA26-012C0AAE23E0}" destId="{23A1C906-D320-427D-A945-71BE52D45A7A}" srcOrd="3" destOrd="0" presId="urn:microsoft.com/office/officeart/2005/8/layout/process1"/>
    <dgm:cxn modelId="{2EC8544C-7CA2-4659-A74B-323AE4557BB7}" type="presParOf" srcId="{23A1C906-D320-427D-A945-71BE52D45A7A}" destId="{144B649F-0BA4-4A01-B833-BA2F36FD1701}" srcOrd="0" destOrd="0" presId="urn:microsoft.com/office/officeart/2005/8/layout/process1"/>
    <dgm:cxn modelId="{CE48FBE7-7296-4C9A-BF4F-B8730FB1FCE9}" type="presParOf" srcId="{750B0860-BA8A-4742-BA26-012C0AAE23E0}" destId="{B526C969-7329-4A48-8BBC-E8FC50242E9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5C3606-EEA4-4609-AC53-0971416BA864}">
      <dsp:nvSpPr>
        <dsp:cNvPr id="0" name=""/>
        <dsp:cNvSpPr/>
      </dsp:nvSpPr>
      <dsp:spPr>
        <a:xfrm>
          <a:off x="7143" y="403831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Power Flow</a:t>
          </a:r>
        </a:p>
      </dsp:txBody>
      <dsp:txXfrm>
        <a:off x="44665" y="441353"/>
        <a:ext cx="2060143" cy="1206068"/>
      </dsp:txXfrm>
    </dsp:sp>
    <dsp:sp modelId="{2444D054-7AF5-4F0C-BF7A-281FA6168406}">
      <dsp:nvSpPr>
        <dsp:cNvPr id="0" name=""/>
        <dsp:cNvSpPr/>
      </dsp:nvSpPr>
      <dsp:spPr>
        <a:xfrm>
          <a:off x="2363753" y="779624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2200" kern="1200"/>
        </a:p>
      </dsp:txBody>
      <dsp:txXfrm>
        <a:off x="2363753" y="885529"/>
        <a:ext cx="316861" cy="317716"/>
      </dsp:txXfrm>
    </dsp:sp>
    <dsp:sp modelId="{0372B7DD-46CA-43E8-9A09-8603302E7849}">
      <dsp:nvSpPr>
        <dsp:cNvPr id="0" name=""/>
        <dsp:cNvSpPr/>
      </dsp:nvSpPr>
      <dsp:spPr>
        <a:xfrm>
          <a:off x="2996406" y="403831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Punto de linearización </a:t>
          </a:r>
        </a:p>
      </dsp:txBody>
      <dsp:txXfrm>
        <a:off x="3033928" y="441353"/>
        <a:ext cx="2060143" cy="1206068"/>
      </dsp:txXfrm>
    </dsp:sp>
    <dsp:sp modelId="{23A1C906-D320-427D-A945-71BE52D45A7A}">
      <dsp:nvSpPr>
        <dsp:cNvPr id="0" name=""/>
        <dsp:cNvSpPr/>
      </dsp:nvSpPr>
      <dsp:spPr>
        <a:xfrm>
          <a:off x="5345112" y="779624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2200" kern="1200"/>
        </a:p>
      </dsp:txBody>
      <dsp:txXfrm>
        <a:off x="5345112" y="885529"/>
        <a:ext cx="316861" cy="317716"/>
      </dsp:txXfrm>
    </dsp:sp>
    <dsp:sp modelId="{B526C969-7329-4A48-8BBC-E8FC50242E95}">
      <dsp:nvSpPr>
        <dsp:cNvPr id="0" name=""/>
        <dsp:cNvSpPr/>
      </dsp:nvSpPr>
      <dsp:spPr>
        <a:xfrm>
          <a:off x="5985668" y="403831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kern="1200" dirty="0"/>
            <a:t>Espacio de estados</a:t>
          </a:r>
        </a:p>
      </dsp:txBody>
      <dsp:txXfrm>
        <a:off x="6023190" y="441353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AF40-F6D4-4FE8-90CA-F0CB5766B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14152-A4F4-48EF-BA79-70AFC6822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BCA4B-2841-4BFC-9B00-609ACD31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F22A-BFA0-422E-8968-400FB1DC3035}" type="datetimeFigureOut">
              <a:rPr lang="it-IT" smtClean="0"/>
              <a:t>28/09/2023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AF247-B264-4F80-8AE9-E6619BE31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6BB3B-EF9A-4F95-BDA2-46EE9AAD3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98AC-2F3F-47A0-9DA5-1D761357C30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947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B297-F47D-45CC-B6FA-F9478170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82C3-95F3-4DA2-A9A6-4E0FDEBB6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A8D7A-37C5-40A0-B2A6-943AC38C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F22A-BFA0-422E-8968-400FB1DC3035}" type="datetimeFigureOut">
              <a:rPr lang="it-IT" smtClean="0"/>
              <a:t>28/09/2023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FB642-C493-425E-8C0B-B36F1AD57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AA36E-0D16-49F7-AA8E-853CC16A8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98AC-2F3F-47A0-9DA5-1D761357C30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5188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E451-432A-4AAA-982E-3A5BA5835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48807-D8D9-4109-876A-2C2CFB127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3B56-A7E7-475A-8531-D6C103D5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F22A-BFA0-422E-8968-400FB1DC3035}" type="datetimeFigureOut">
              <a:rPr lang="it-IT" smtClean="0"/>
              <a:t>28/09/2023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5B1E2-32F4-4248-86C3-93D4C9D6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55922-A797-4160-A297-16B5957C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98AC-2F3F-47A0-9DA5-1D761357C30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215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D2B6-1C72-4DF3-8F29-25DE31141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B9B75-149A-45A5-B2F9-4BE6E00889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90C00-59E9-483F-B113-F3C2081D7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352E3-B7A0-4E52-9B03-6762CE16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F22A-BFA0-422E-8968-400FB1DC3035}" type="datetimeFigureOut">
              <a:rPr lang="it-IT" smtClean="0"/>
              <a:t>28/09/2023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43713-1CB5-4FC9-8B1C-5E1C13DB9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48307-D199-446A-ADE5-FD57E718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98AC-2F3F-47A0-9DA5-1D761357C30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534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30057-7224-4D47-AC52-8417D94D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7E29C-D46E-4D25-93CB-1F1575563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03E09-E3C3-4D39-A147-1E0775EC6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B062C0-5F78-4F85-955B-07BDA5972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768FC6-DBFF-45E2-9CC6-622D999E1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076ADF-38AD-4BE6-91F5-5D9AA16B2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F22A-BFA0-422E-8968-400FB1DC3035}" type="datetimeFigureOut">
              <a:rPr lang="it-IT" smtClean="0"/>
              <a:t>28/09/2023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34D206-917E-4A97-ADA8-EF662483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09FE39-202B-4E30-BABD-353C8455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98AC-2F3F-47A0-9DA5-1D761357C30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2583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DAD5-DF6E-4D91-8E67-57ED3C3A2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1C29C7-49A6-46A9-89D9-A0DE81D2A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F22A-BFA0-422E-8968-400FB1DC3035}" type="datetimeFigureOut">
              <a:rPr lang="it-IT" smtClean="0"/>
              <a:t>28/09/2023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267778-91A5-48AD-AADC-B621D8D9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26D04-D4E1-4A14-8135-C9E0F23D1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98AC-2F3F-47A0-9DA5-1D761357C30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4033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502DDC-B293-43EB-8112-97E470CA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F22A-BFA0-422E-8968-400FB1DC3035}" type="datetimeFigureOut">
              <a:rPr lang="it-IT" smtClean="0"/>
              <a:t>28/09/2023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87113-BD7A-4686-9CF1-C3D0BC969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9D8D6-2EAD-4444-BE09-80AC283C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98AC-2F3F-47A0-9DA5-1D761357C30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138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9AE95-AE7C-4222-A51C-0E088DAD1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9168C-4FED-44D7-9B6E-D0AA93615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261F9-5016-40DA-B841-8AF401F5F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8103C-C402-4991-B185-045E1010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F22A-BFA0-422E-8968-400FB1DC3035}" type="datetimeFigureOut">
              <a:rPr lang="it-IT" smtClean="0"/>
              <a:t>28/09/2023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2EEEB-A3C9-4569-B916-B795C8E6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957BD-E4D0-4F15-A7DA-16E050D4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98AC-2F3F-47A0-9DA5-1D761357C30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531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0E5D-9E41-48FD-B8CE-81B65771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B8D01B-0491-449D-A94F-1E02F00C06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DD0A2-9D24-4439-9250-5EBBD4616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27232-7467-4EB0-9E4E-E92815ED0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F22A-BFA0-422E-8968-400FB1DC3035}" type="datetimeFigureOut">
              <a:rPr lang="it-IT" smtClean="0"/>
              <a:t>28/09/2023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93044-DD51-4AF5-9DA3-CD1B33848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AA76D-3150-4E6A-BB01-069719CC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98AC-2F3F-47A0-9DA5-1D761357C30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1556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0719B-ADCF-4AF0-99FC-B8B09AE4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A2BF7-8BCC-4904-A248-703F2D9C3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02EBF-2FBE-4FF7-A1B9-ECE138066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F22A-BFA0-422E-8968-400FB1DC3035}" type="datetimeFigureOut">
              <a:rPr lang="it-IT" smtClean="0"/>
              <a:t>28/09/2023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9101E-5DF9-4C42-94BD-DDA38A963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7B60A-6BBC-4A60-8E85-846248F3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98AC-2F3F-47A0-9DA5-1D761357C30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6483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F7A2A4-E201-4703-A1C1-9188858E0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BEB26-B59C-46A9-8AE3-D32EAB1CF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EE591-A179-49D1-9E99-978DFC8B1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AF22A-BFA0-422E-8968-400FB1DC3035}" type="datetimeFigureOut">
              <a:rPr lang="it-IT" smtClean="0"/>
              <a:t>28/09/2023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DDB36-C59A-4523-B7BC-E294C46C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2ACF1-EA63-43D4-A52D-255E538BC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798AC-2F3F-47A0-9DA5-1D761357C30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6690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B7A4C7-CD1C-4932-9FC8-FF4FA8904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E3C1E-F165-4EE1-AADD-0B95C4205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48F08-3CBE-40CE-8F6D-48B5154099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AF22A-BFA0-422E-8968-400FB1DC3035}" type="datetimeFigureOut">
              <a:rPr lang="it-IT" smtClean="0"/>
              <a:t>28/09/2023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87761-B1E7-4BF1-A25B-2E360383E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94119-B668-4E91-BDEC-2850B26A9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798AC-2F3F-47A0-9DA5-1D761357C30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3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92E8E-BB9D-4D68-B5B4-A592520ADD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HP2C-DT </a:t>
            </a:r>
            <a:br>
              <a:rPr lang="it-IT" dirty="0"/>
            </a:br>
            <a:r>
              <a:rPr lang="it-IT" dirty="0"/>
              <a:t>SSC-OPF Tool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72C84-74CF-46BF-838A-B5816F27C1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5589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C8A3-7268-450B-A2F5-B14878BA3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Generación de cada singulo dato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A0E4B-A2AD-4803-98EE-CA890E2A5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EED88F8-C816-4BE3-890C-CFC292FEAA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6450879"/>
              </p:ext>
            </p:extLst>
          </p:nvPr>
        </p:nvGraphicFramePr>
        <p:xfrm>
          <a:off x="1861671" y="2956906"/>
          <a:ext cx="8128000" cy="2088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04ED66A-3242-4A64-83E5-B5C7060EED57}"/>
              </a:ext>
            </a:extLst>
          </p:cNvPr>
          <p:cNvSpPr txBox="1"/>
          <p:nvPr/>
        </p:nvSpPr>
        <p:spPr>
          <a:xfrm>
            <a:off x="838200" y="2427773"/>
            <a:ext cx="3526866" cy="92333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dirty="0"/>
              <a:t>Unidad de generación: PV (o PQ)</a:t>
            </a:r>
          </a:p>
          <a:p>
            <a:r>
              <a:rPr lang="it-IT" dirty="0"/>
              <a:t>Cargas: PQ</a:t>
            </a:r>
          </a:p>
          <a:p>
            <a:r>
              <a:rPr lang="it-IT" dirty="0"/>
              <a:t>Slack: Vϴ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CC7D84-CAEC-42CA-A3A6-BF094A4F2B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42" y="4879766"/>
            <a:ext cx="2001515" cy="1789373"/>
          </a:xfrm>
          <a:prstGeom prst="rect">
            <a:avLst/>
          </a:prstGeom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DDDB502A-AAEC-450E-95B8-820C749B8C90}"/>
              </a:ext>
            </a:extLst>
          </p:cNvPr>
          <p:cNvCxnSpPr/>
          <p:nvPr/>
        </p:nvCxnSpPr>
        <p:spPr>
          <a:xfrm rot="16200000" flipH="1">
            <a:off x="1164363" y="3502959"/>
            <a:ext cx="667871" cy="519953"/>
          </a:xfrm>
          <a:prstGeom prst="bentConnector3">
            <a:avLst>
              <a:gd name="adj1" fmla="val 9966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624C8E-2208-42F0-8EB9-BBCC02DD519D}"/>
                  </a:ext>
                </a:extLst>
              </p:cNvPr>
              <p:cNvSpPr txBox="1"/>
              <p:nvPr/>
            </p:nvSpPr>
            <p:spPr>
              <a:xfrm>
                <a:off x="4849160" y="1976428"/>
                <a:ext cx="3526866" cy="966162"/>
              </a:xfrm>
              <a:prstGeom prst="rect">
                <a:avLst/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𝑆𝐺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𝑆𝐺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𝐺𝐹𝑀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𝐺𝐹𝑀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𝐺𝐹𝐿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𝐺𝐹𝐿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  <a:p>
                <a:r>
                  <a:rPr lang="it-IT" dirty="0"/>
                  <a:t>  GFM control: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</a:p>
              <a:p>
                <a:r>
                  <a:rPr lang="it-IT" dirty="0"/>
                  <a:t>  GFL control: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it-IT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624C8E-2208-42F0-8EB9-BBCC02DD5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160" y="1976428"/>
                <a:ext cx="3526866" cy="966162"/>
              </a:xfrm>
              <a:prstGeom prst="rect">
                <a:avLst/>
              </a:prstGeom>
              <a:blipFill>
                <a:blip r:embed="rId8"/>
                <a:stretch>
                  <a:fillRect b="-5556"/>
                </a:stretch>
              </a:blipFill>
              <a:ln w="19050"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CDE5B4-38F1-4B76-96FA-022795D0DDAE}"/>
              </a:ext>
            </a:extLst>
          </p:cNvPr>
          <p:cNvCxnSpPr/>
          <p:nvPr/>
        </p:nvCxnSpPr>
        <p:spPr>
          <a:xfrm>
            <a:off x="5413935" y="2983801"/>
            <a:ext cx="0" cy="31206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406C1F6-9BBC-464C-BEEC-8453EA0B48A0}"/>
              </a:ext>
            </a:extLst>
          </p:cNvPr>
          <p:cNvSpPr txBox="1"/>
          <p:nvPr/>
        </p:nvSpPr>
        <p:spPr>
          <a:xfrm>
            <a:off x="8167592" y="5128241"/>
            <a:ext cx="2885890" cy="92333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dirty="0"/>
              <a:t>Valores proprios</a:t>
            </a:r>
          </a:p>
          <a:p>
            <a:r>
              <a:rPr lang="it-IT" dirty="0"/>
              <a:t>Participation factors</a:t>
            </a:r>
          </a:p>
          <a:p>
            <a:r>
              <a:rPr lang="it-IT" dirty="0"/>
              <a:t>Indicadores de performance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CE04ED2-3372-4DF9-84A4-89653FAB4496}"/>
              </a:ext>
            </a:extLst>
          </p:cNvPr>
          <p:cNvCxnSpPr/>
          <p:nvPr/>
        </p:nvCxnSpPr>
        <p:spPr>
          <a:xfrm rot="16200000" flipH="1">
            <a:off x="9996393" y="4429902"/>
            <a:ext cx="667871" cy="519953"/>
          </a:xfrm>
          <a:prstGeom prst="bentConnector3">
            <a:avLst>
              <a:gd name="adj1" fmla="val -234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623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E6A0-FDB3-4733-A500-889F6EF7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Como proporcionar inputs al power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2A363-91D1-42FE-A029-9C965BA26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Cargas: PQ aleatoria dentro de unos valores minimos y maximos</a:t>
            </a:r>
          </a:p>
          <a:p>
            <a:r>
              <a:rPr lang="it-IT" dirty="0"/>
              <a:t>Generadores: 	</a:t>
            </a:r>
          </a:p>
          <a:p>
            <a:pPr lvl="1"/>
            <a:r>
              <a:rPr lang="it-IT" dirty="0"/>
              <a:t>P entr Pmin y Pmax del generador</a:t>
            </a:r>
          </a:p>
          <a:p>
            <a:pPr lvl="1"/>
            <a:r>
              <a:rPr lang="it-IT" dirty="0"/>
              <a:t>Opción A: V aleatoria entre un valor min y max</a:t>
            </a:r>
          </a:p>
          <a:p>
            <a:pPr lvl="1"/>
            <a:r>
              <a:rPr lang="it-IT" dirty="0"/>
              <a:t>Opción B: factor de potencia aleatorio dentre un valor min y max -&gt; Q</a:t>
            </a:r>
          </a:p>
          <a:p>
            <a:pPr marL="914400" lvl="2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78759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E6A0-FDB3-4733-A500-889F6EF7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Como proporcionar inputs al power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2A363-91D1-42FE-A029-9C965BA26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Opción A : 	</a:t>
            </a:r>
          </a:p>
          <a:p>
            <a:pPr lvl="1"/>
            <a:r>
              <a:rPr lang="it-IT" dirty="0"/>
              <a:t>P entre Pmin y Pmax del generador</a:t>
            </a:r>
          </a:p>
          <a:p>
            <a:pPr lvl="1"/>
            <a:r>
              <a:rPr lang="it-IT" dirty="0"/>
              <a:t>V aleatoria entre un valor min y max (0.95-1.05 p.u.)</a:t>
            </a:r>
          </a:p>
          <a:p>
            <a:r>
              <a:rPr lang="it-IT" dirty="0"/>
              <a:t>Test sobre 100 casos:</a:t>
            </a:r>
          </a:p>
          <a:p>
            <a:pPr lvl="1"/>
            <a:r>
              <a:rPr lang="it-IT" dirty="0"/>
              <a:t>Casos con solucción convergente: 44%</a:t>
            </a:r>
          </a:p>
          <a:p>
            <a:pPr marL="457200" lvl="1" indent="0">
              <a:buNone/>
            </a:pPr>
            <a:endParaRPr lang="it-I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EE4F4B-48F0-4241-ACAD-16322AB02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28" y="4016176"/>
            <a:ext cx="3789098" cy="28418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62BE8F-3469-433D-96C1-A89263C97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226" y="4016176"/>
            <a:ext cx="3789098" cy="28418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21634A-7929-40D0-9DB8-5E9FDF3EE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796" y="4001294"/>
            <a:ext cx="3789098" cy="284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25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E6A0-FDB3-4733-A500-889F6EF7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Como proporcionar inputs al power 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62A363-91D1-42FE-A029-9C965BA26E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Opción B : 	</a:t>
                </a:r>
              </a:p>
              <a:p>
                <a:pPr lvl="1"/>
                <a:r>
                  <a:rPr lang="it-IT" dirty="0"/>
                  <a:t>P entre Pmin y Pmax del generador</a:t>
                </a:r>
              </a:p>
              <a:p>
                <a:pPr lvl="1"/>
                <a:r>
                  <a:rPr lang="it-IT" dirty="0"/>
                  <a:t>factor de potencia aleatorio dentre un valor min y max -&gt; Q</a:t>
                </a:r>
              </a:p>
              <a:p>
                <a:pPr lvl="1"/>
                <a:endParaRPr lang="it-IT" dirty="0"/>
              </a:p>
              <a:p>
                <a:pPr marL="457200" lvl="1" indent="0">
                  <a:buNone/>
                </a:pPr>
                <a:r>
                  <a:rPr lang="it-IT" dirty="0">
                    <a:sym typeface="Wingdings" panose="05000000000000000000" pitchFamily="2" charset="2"/>
                  </a:rPr>
                  <a:t> Resolver una OPF donde P y V de los generadores son variables de decisión, y la función objectivo 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it-IT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it-IT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it-IT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min</m:t>
                            </m:r>
                          </m:e>
                          <m:lim/>
                        </m:limLow>
                      </m:fName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it-IT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𝑔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it-IT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𝑔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func>
                  </m:oMath>
                </a14:m>
                <a:endParaRPr lang="it-IT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62A363-91D1-42FE-A029-9C965BA26E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8593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212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HP2C-DT  SSC-OPF Tool updates</vt:lpstr>
      <vt:lpstr>Generación de cada singulo dato</vt:lpstr>
      <vt:lpstr>Como proporcionar inputs al power flow</vt:lpstr>
      <vt:lpstr>Como proporcionar inputs al power flow</vt:lpstr>
      <vt:lpstr>Como proporcionar inputs al power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Francesca</dc:creator>
  <cp:lastModifiedBy>Francesca</cp:lastModifiedBy>
  <cp:revision>5</cp:revision>
  <dcterms:created xsi:type="dcterms:W3CDTF">2023-09-28T10:08:00Z</dcterms:created>
  <dcterms:modified xsi:type="dcterms:W3CDTF">2023-09-28T16:18:19Z</dcterms:modified>
</cp:coreProperties>
</file>